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84" r:id="rId1"/>
  </p:sldMasterIdLst>
  <p:notesMasterIdLst>
    <p:notesMasterId r:id="rId22"/>
  </p:notesMasterIdLst>
  <p:sldIdLst>
    <p:sldId id="256" r:id="rId2"/>
    <p:sldId id="257" r:id="rId3"/>
    <p:sldId id="258" r:id="rId4"/>
    <p:sldId id="260" r:id="rId5"/>
    <p:sldId id="259" r:id="rId6"/>
    <p:sldId id="261" r:id="rId7"/>
    <p:sldId id="262" r:id="rId8"/>
    <p:sldId id="264" r:id="rId9"/>
    <p:sldId id="273" r:id="rId10"/>
    <p:sldId id="274" r:id="rId11"/>
    <p:sldId id="275" r:id="rId12"/>
    <p:sldId id="266" r:id="rId13"/>
    <p:sldId id="268" r:id="rId14"/>
    <p:sldId id="269" r:id="rId15"/>
    <p:sldId id="271" r:id="rId16"/>
    <p:sldId id="277" r:id="rId17"/>
    <p:sldId id="272" r:id="rId18"/>
    <p:sldId id="263" r:id="rId19"/>
    <p:sldId id="265" r:id="rId20"/>
    <p:sldId id="276"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711" autoAdjust="0"/>
    <p:restoredTop sz="94660"/>
  </p:normalViewPr>
  <p:slideViewPr>
    <p:cSldViewPr snapToGrid="0">
      <p:cViewPr varScale="1">
        <p:scale>
          <a:sx n="70" d="100"/>
          <a:sy n="70" d="100"/>
        </p:scale>
        <p:origin x="700"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ANDU INDU MAHELA" userId="1da6af025dd18955" providerId="LiveId" clId="{CC247904-54AB-44C5-A56A-E01CD2B9E810}"/>
    <pc:docChg chg="modSld">
      <pc:chgData name="DANDU INDU MAHELA" userId="1da6af025dd18955" providerId="LiveId" clId="{CC247904-54AB-44C5-A56A-E01CD2B9E810}" dt="2025-07-09T12:17:27.910" v="13" actId="20577"/>
      <pc:docMkLst>
        <pc:docMk/>
      </pc:docMkLst>
      <pc:sldChg chg="modSp mod">
        <pc:chgData name="DANDU INDU MAHELA" userId="1da6af025dd18955" providerId="LiveId" clId="{CC247904-54AB-44C5-A56A-E01CD2B9E810}" dt="2025-07-09T12:17:27.910" v="13" actId="20577"/>
        <pc:sldMkLst>
          <pc:docMk/>
          <pc:sldMk cId="3597436989" sldId="256"/>
        </pc:sldMkLst>
        <pc:spChg chg="mod">
          <ac:chgData name="DANDU INDU MAHELA" userId="1da6af025dd18955" providerId="LiveId" clId="{CC247904-54AB-44C5-A56A-E01CD2B9E810}" dt="2025-07-09T12:17:27.910" v="13" actId="20577"/>
          <ac:spMkLst>
            <pc:docMk/>
            <pc:sldMk cId="3597436989" sldId="256"/>
            <ac:spMk id="3" creationId="{A8B6ED2B-56D5-728B-677A-78F1DC01CB67}"/>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E6CDBF2-6286-4A0B-BEE8-D2331747DED6}" type="datetimeFigureOut">
              <a:rPr lang="en-IN" smtClean="0"/>
              <a:t>09-07-2025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993EBD0-7F19-498B-9804-6B8E683074A3}" type="slidenum">
              <a:rPr lang="en-IN" smtClean="0"/>
              <a:t>‹#›</a:t>
            </a:fld>
            <a:endParaRPr lang="en-IN"/>
          </a:p>
        </p:txBody>
      </p:sp>
    </p:spTree>
    <p:extLst>
      <p:ext uri="{BB962C8B-B14F-4D97-AF65-F5344CB8AC3E}">
        <p14:creationId xmlns:p14="http://schemas.microsoft.com/office/powerpoint/2010/main" val="7761277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7993EBD0-7F19-498B-9804-6B8E683074A3}" type="slidenum">
              <a:rPr lang="en-IN" smtClean="0"/>
              <a:t>13</a:t>
            </a:fld>
            <a:endParaRPr lang="en-IN"/>
          </a:p>
        </p:txBody>
      </p:sp>
    </p:spTree>
    <p:extLst>
      <p:ext uri="{BB962C8B-B14F-4D97-AF65-F5344CB8AC3E}">
        <p14:creationId xmlns:p14="http://schemas.microsoft.com/office/powerpoint/2010/main" val="80056397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AA5C39E8-6232-4731-A405-1C7BD1316783}" type="datetimeFigureOut">
              <a:rPr lang="en-IN" smtClean="0"/>
              <a:t>09-07-2025</a:t>
            </a:fld>
            <a:endParaRPr lang="en-IN"/>
          </a:p>
        </p:txBody>
      </p:sp>
      <p:sp>
        <p:nvSpPr>
          <p:cNvPr id="5" name="Footer Placeholder 4"/>
          <p:cNvSpPr>
            <a:spLocks noGrp="1"/>
          </p:cNvSpPr>
          <p:nvPr>
            <p:ph type="ftr" sz="quarter" idx="11"/>
          </p:nvPr>
        </p:nvSpPr>
        <p:spPr/>
        <p:txBody>
          <a:bodyPr/>
          <a:lstStyle/>
          <a:p>
            <a:endParaRPr lang="en-IN"/>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AF193759-E2B1-4998-AED3-6AAFC06B0F0B}" type="slidenum">
              <a:rPr lang="en-IN" smtClean="0"/>
              <a:t>‹#›</a:t>
            </a:fld>
            <a:endParaRPr lang="en-IN"/>
          </a:p>
        </p:txBody>
      </p:sp>
    </p:spTree>
    <p:extLst>
      <p:ext uri="{BB962C8B-B14F-4D97-AF65-F5344CB8AC3E}">
        <p14:creationId xmlns:p14="http://schemas.microsoft.com/office/powerpoint/2010/main" val="25461223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A5C39E8-6232-4731-A405-1C7BD1316783}" type="datetimeFigureOut">
              <a:rPr lang="en-IN" smtClean="0"/>
              <a:t>09-07-2025</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AF193759-E2B1-4998-AED3-6AAFC06B0F0B}" type="slidenum">
              <a:rPr lang="en-IN" smtClean="0"/>
              <a:t>‹#›</a:t>
            </a:fld>
            <a:endParaRPr lang="en-IN"/>
          </a:p>
        </p:txBody>
      </p:sp>
    </p:spTree>
    <p:extLst>
      <p:ext uri="{BB962C8B-B14F-4D97-AF65-F5344CB8AC3E}">
        <p14:creationId xmlns:p14="http://schemas.microsoft.com/office/powerpoint/2010/main" val="27491228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A5C39E8-6232-4731-A405-1C7BD1316783}" type="datetimeFigureOut">
              <a:rPr lang="en-IN" smtClean="0"/>
              <a:t>09-07-2025</a:t>
            </a:fld>
            <a:endParaRPr lang="en-IN"/>
          </a:p>
        </p:txBody>
      </p:sp>
      <p:sp>
        <p:nvSpPr>
          <p:cNvPr id="5" name="Footer Placeholder 4"/>
          <p:cNvSpPr>
            <a:spLocks noGrp="1"/>
          </p:cNvSpPr>
          <p:nvPr>
            <p:ph type="ftr" sz="quarter" idx="11"/>
          </p:nvPr>
        </p:nvSpPr>
        <p:spPr/>
        <p:txBody>
          <a:bodyPr/>
          <a:lstStyle/>
          <a:p>
            <a:endParaRPr lang="en-IN"/>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AF193759-E2B1-4998-AED3-6AAFC06B0F0B}" type="slidenum">
              <a:rPr lang="en-IN" smtClean="0"/>
              <a:t>‹#›</a:t>
            </a:fld>
            <a:endParaRPr lang="en-IN"/>
          </a:p>
        </p:txBody>
      </p:sp>
    </p:spTree>
    <p:extLst>
      <p:ext uri="{BB962C8B-B14F-4D97-AF65-F5344CB8AC3E}">
        <p14:creationId xmlns:p14="http://schemas.microsoft.com/office/powerpoint/2010/main" val="25929884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A5C39E8-6232-4731-A405-1C7BD1316783}" type="datetimeFigureOut">
              <a:rPr lang="en-IN" smtClean="0"/>
              <a:t>09-07-2025</a:t>
            </a:fld>
            <a:endParaRPr lang="en-IN"/>
          </a:p>
        </p:txBody>
      </p:sp>
      <p:sp>
        <p:nvSpPr>
          <p:cNvPr id="6" name="Footer Placeholder 5"/>
          <p:cNvSpPr>
            <a:spLocks noGrp="1"/>
          </p:cNvSpPr>
          <p:nvPr>
            <p:ph type="ftr" sz="quarter" idx="11"/>
          </p:nvPr>
        </p:nvSpPr>
        <p:spPr/>
        <p:txBody>
          <a:bodyPr/>
          <a:lstStyle/>
          <a:p>
            <a:endParaRPr lang="en-IN"/>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AF193759-E2B1-4998-AED3-6AAFC06B0F0B}" type="slidenum">
              <a:rPr lang="en-IN" smtClean="0"/>
              <a:t>‹#›</a:t>
            </a:fld>
            <a:endParaRPr lang="en-IN"/>
          </a:p>
        </p:txBody>
      </p:sp>
    </p:spTree>
    <p:extLst>
      <p:ext uri="{BB962C8B-B14F-4D97-AF65-F5344CB8AC3E}">
        <p14:creationId xmlns:p14="http://schemas.microsoft.com/office/powerpoint/2010/main" val="35020898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A5C39E8-6232-4731-A405-1C7BD1316783}" type="datetimeFigureOut">
              <a:rPr lang="en-IN" smtClean="0"/>
              <a:t>09-07-2025</a:t>
            </a:fld>
            <a:endParaRPr lang="en-IN"/>
          </a:p>
        </p:txBody>
      </p:sp>
      <p:sp>
        <p:nvSpPr>
          <p:cNvPr id="8" name="Footer Placeholder 7"/>
          <p:cNvSpPr>
            <a:spLocks noGrp="1"/>
          </p:cNvSpPr>
          <p:nvPr>
            <p:ph type="ftr" sz="quarter" idx="11"/>
          </p:nvPr>
        </p:nvSpPr>
        <p:spPr/>
        <p:txBody>
          <a:bodyPr/>
          <a:lstStyle/>
          <a:p>
            <a:endParaRPr lang="en-IN"/>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AF193759-E2B1-4998-AED3-6AAFC06B0F0B}" type="slidenum">
              <a:rPr lang="en-IN" smtClean="0"/>
              <a:t>‹#›</a:t>
            </a:fld>
            <a:endParaRPr lang="en-IN"/>
          </a:p>
        </p:txBody>
      </p:sp>
    </p:spTree>
    <p:extLst>
      <p:ext uri="{BB962C8B-B14F-4D97-AF65-F5344CB8AC3E}">
        <p14:creationId xmlns:p14="http://schemas.microsoft.com/office/powerpoint/2010/main" val="32868063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A5C39E8-6232-4731-A405-1C7BD1316783}" type="datetimeFigureOut">
              <a:rPr lang="en-IN" smtClean="0"/>
              <a:t>09-07-2025</a:t>
            </a:fld>
            <a:endParaRPr lang="en-IN"/>
          </a:p>
        </p:txBody>
      </p:sp>
      <p:sp>
        <p:nvSpPr>
          <p:cNvPr id="4" name="Footer Placeholder 3"/>
          <p:cNvSpPr>
            <a:spLocks noGrp="1"/>
          </p:cNvSpPr>
          <p:nvPr>
            <p:ph type="ftr" sz="quarter" idx="11"/>
          </p:nvPr>
        </p:nvSpPr>
        <p:spPr/>
        <p:txBody>
          <a:bodyPr/>
          <a:lstStyle/>
          <a:p>
            <a:endParaRPr lang="en-IN"/>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AF193759-E2B1-4998-AED3-6AAFC06B0F0B}" type="slidenum">
              <a:rPr lang="en-IN" smtClean="0"/>
              <a:t>‹#›</a:t>
            </a:fld>
            <a:endParaRPr lang="en-IN"/>
          </a:p>
        </p:txBody>
      </p:sp>
    </p:spTree>
    <p:extLst>
      <p:ext uri="{BB962C8B-B14F-4D97-AF65-F5344CB8AC3E}">
        <p14:creationId xmlns:p14="http://schemas.microsoft.com/office/powerpoint/2010/main" val="17531240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A5C39E8-6232-4731-A405-1C7BD1316783}" type="datetimeFigureOut">
              <a:rPr lang="en-IN" smtClean="0"/>
              <a:t>09-07-2025</a:t>
            </a:fld>
            <a:endParaRPr lang="en-IN"/>
          </a:p>
        </p:txBody>
      </p:sp>
      <p:sp>
        <p:nvSpPr>
          <p:cNvPr id="3" name="Footer Placeholder 2"/>
          <p:cNvSpPr>
            <a:spLocks noGrp="1"/>
          </p:cNvSpPr>
          <p:nvPr>
            <p:ph type="ftr" sz="quarter" idx="11"/>
          </p:nvPr>
        </p:nvSpPr>
        <p:spPr/>
        <p:txBody>
          <a:bodyPr/>
          <a:lstStyle/>
          <a:p>
            <a:endParaRPr lang="en-IN"/>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AF193759-E2B1-4998-AED3-6AAFC06B0F0B}" type="slidenum">
              <a:rPr lang="en-IN" smtClean="0"/>
              <a:t>‹#›</a:t>
            </a:fld>
            <a:endParaRPr lang="en-IN"/>
          </a:p>
        </p:txBody>
      </p:sp>
    </p:spTree>
    <p:extLst>
      <p:ext uri="{BB962C8B-B14F-4D97-AF65-F5344CB8AC3E}">
        <p14:creationId xmlns:p14="http://schemas.microsoft.com/office/powerpoint/2010/main" val="31336998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A5C39E8-6232-4731-A405-1C7BD1316783}" type="datetimeFigureOut">
              <a:rPr lang="en-IN" smtClean="0"/>
              <a:t>09-07-2025</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AF193759-E2B1-4998-AED3-6AAFC06B0F0B}" type="slidenum">
              <a:rPr lang="en-IN" smtClean="0"/>
              <a:t>‹#›</a:t>
            </a:fld>
            <a:endParaRPr lang="en-IN"/>
          </a:p>
        </p:txBody>
      </p:sp>
    </p:spTree>
    <p:extLst>
      <p:ext uri="{BB962C8B-B14F-4D97-AF65-F5344CB8AC3E}">
        <p14:creationId xmlns:p14="http://schemas.microsoft.com/office/powerpoint/2010/main" val="2884793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A5C39E8-6232-4731-A405-1C7BD1316783}" type="datetimeFigureOut">
              <a:rPr lang="en-IN" smtClean="0"/>
              <a:t>09-07-2025</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AF193759-E2B1-4998-AED3-6AAFC06B0F0B}" type="slidenum">
              <a:rPr lang="en-IN" smtClean="0"/>
              <a:t>‹#›</a:t>
            </a:fld>
            <a:endParaRPr lang="en-IN"/>
          </a:p>
        </p:txBody>
      </p:sp>
    </p:spTree>
    <p:extLst>
      <p:ext uri="{BB962C8B-B14F-4D97-AF65-F5344CB8AC3E}">
        <p14:creationId xmlns:p14="http://schemas.microsoft.com/office/powerpoint/2010/main" val="37273807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A5C39E8-6232-4731-A405-1C7BD1316783}" type="datetimeFigureOut">
              <a:rPr lang="en-IN" smtClean="0"/>
              <a:t>09-07-2025</a:t>
            </a:fld>
            <a:endParaRPr lang="en-IN"/>
          </a:p>
        </p:txBody>
      </p:sp>
      <p:sp>
        <p:nvSpPr>
          <p:cNvPr id="5" name="Footer Placeholder 4"/>
          <p:cNvSpPr>
            <a:spLocks noGrp="1"/>
          </p:cNvSpPr>
          <p:nvPr>
            <p:ph type="ftr" sz="quarter" idx="11"/>
          </p:nvPr>
        </p:nvSpPr>
        <p:spPr/>
        <p:txBody>
          <a:bodyPr/>
          <a:lstStyle/>
          <a:p>
            <a:endParaRPr lang="en-IN"/>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AF193759-E2B1-4998-AED3-6AAFC06B0F0B}" type="slidenum">
              <a:rPr lang="en-IN" smtClean="0"/>
              <a:t>‹#›</a:t>
            </a:fld>
            <a:endParaRPr lang="en-IN"/>
          </a:p>
        </p:txBody>
      </p:sp>
    </p:spTree>
    <p:extLst>
      <p:ext uri="{BB962C8B-B14F-4D97-AF65-F5344CB8AC3E}">
        <p14:creationId xmlns:p14="http://schemas.microsoft.com/office/powerpoint/2010/main" val="40152872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A5C39E8-6232-4731-A405-1C7BD1316783}" type="datetimeFigureOut">
              <a:rPr lang="en-IN" smtClean="0"/>
              <a:t>09-07-2025</a:t>
            </a:fld>
            <a:endParaRPr lang="en-IN"/>
          </a:p>
        </p:txBody>
      </p:sp>
      <p:sp>
        <p:nvSpPr>
          <p:cNvPr id="5" name="Footer Placeholder 4"/>
          <p:cNvSpPr>
            <a:spLocks noGrp="1"/>
          </p:cNvSpPr>
          <p:nvPr>
            <p:ph type="ftr" sz="quarter" idx="11"/>
          </p:nvPr>
        </p:nvSpPr>
        <p:spPr/>
        <p:txBody>
          <a:bodyPr/>
          <a:lstStyle/>
          <a:p>
            <a:endParaRPr lang="en-IN"/>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AF193759-E2B1-4998-AED3-6AAFC06B0F0B}" type="slidenum">
              <a:rPr lang="en-IN" smtClean="0"/>
              <a:t>‹#›</a:t>
            </a:fld>
            <a:endParaRPr lang="en-IN"/>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98391708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AA5C39E8-6232-4731-A405-1C7BD1316783}" type="datetimeFigureOut">
              <a:rPr lang="en-IN" smtClean="0"/>
              <a:t>09-07-2025</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AF193759-E2B1-4998-AED3-6AAFC06B0F0B}" type="slidenum">
              <a:rPr lang="en-IN" smtClean="0"/>
              <a:t>‹#›</a:t>
            </a:fld>
            <a:endParaRPr lang="en-IN"/>
          </a:p>
        </p:txBody>
      </p:sp>
    </p:spTree>
    <p:extLst>
      <p:ext uri="{BB962C8B-B14F-4D97-AF65-F5344CB8AC3E}">
        <p14:creationId xmlns:p14="http://schemas.microsoft.com/office/powerpoint/2010/main" val="197672699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AA5C39E8-6232-4731-A405-1C7BD1316783}" type="datetimeFigureOut">
              <a:rPr lang="en-IN" smtClean="0"/>
              <a:t>09-07-2025</a:t>
            </a:fld>
            <a:endParaRPr lang="en-IN"/>
          </a:p>
        </p:txBody>
      </p:sp>
      <p:sp>
        <p:nvSpPr>
          <p:cNvPr id="6" name="Footer Placeholder 5"/>
          <p:cNvSpPr>
            <a:spLocks noGrp="1"/>
          </p:cNvSpPr>
          <p:nvPr>
            <p:ph type="ftr" sz="quarter" idx="11"/>
          </p:nvPr>
        </p:nvSpPr>
        <p:spPr/>
        <p:txBody>
          <a:bodyPr/>
          <a:lstStyle/>
          <a:p>
            <a:endParaRPr lang="en-IN"/>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AF193759-E2B1-4998-AED3-6AAFC06B0F0B}" type="slidenum">
              <a:rPr lang="en-IN" smtClean="0"/>
              <a:t>‹#›</a:t>
            </a:fld>
            <a:endParaRPr lang="en-IN"/>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423471351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AA5C39E8-6232-4731-A405-1C7BD1316783}" type="datetimeFigureOut">
              <a:rPr lang="en-IN" smtClean="0"/>
              <a:t>09-07-2025</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AF193759-E2B1-4998-AED3-6AAFC06B0F0B}" type="slidenum">
              <a:rPr lang="en-IN" smtClean="0"/>
              <a:t>‹#›</a:t>
            </a:fld>
            <a:endParaRPr lang="en-IN"/>
          </a:p>
        </p:txBody>
      </p:sp>
    </p:spTree>
    <p:extLst>
      <p:ext uri="{BB962C8B-B14F-4D97-AF65-F5344CB8AC3E}">
        <p14:creationId xmlns:p14="http://schemas.microsoft.com/office/powerpoint/2010/main" val="322759502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A5C39E8-6232-4731-A405-1C7BD1316783}" type="datetimeFigureOut">
              <a:rPr lang="en-IN" smtClean="0"/>
              <a:t>09-07-2025</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AF193759-E2B1-4998-AED3-6AAFC06B0F0B}" type="slidenum">
              <a:rPr lang="en-IN" smtClean="0"/>
              <a:t>‹#›</a:t>
            </a:fld>
            <a:endParaRPr lang="en-IN"/>
          </a:p>
        </p:txBody>
      </p:sp>
    </p:spTree>
    <p:extLst>
      <p:ext uri="{BB962C8B-B14F-4D97-AF65-F5344CB8AC3E}">
        <p14:creationId xmlns:p14="http://schemas.microsoft.com/office/powerpoint/2010/main" val="410657222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A5C39E8-6232-4731-A405-1C7BD1316783}" type="datetimeFigureOut">
              <a:rPr lang="en-IN" smtClean="0"/>
              <a:t>09-07-2025</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AF193759-E2B1-4998-AED3-6AAFC06B0F0B}" type="slidenum">
              <a:rPr lang="en-IN" smtClean="0"/>
              <a:t>‹#›</a:t>
            </a:fld>
            <a:endParaRPr lang="en-IN"/>
          </a:p>
        </p:txBody>
      </p:sp>
    </p:spTree>
    <p:extLst>
      <p:ext uri="{BB962C8B-B14F-4D97-AF65-F5344CB8AC3E}">
        <p14:creationId xmlns:p14="http://schemas.microsoft.com/office/powerpoint/2010/main" val="34134767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AA5C39E8-6232-4731-A405-1C7BD1316783}" type="datetimeFigureOut">
              <a:rPr lang="en-IN" smtClean="0"/>
              <a:t>09-07-2025</a:t>
            </a:fld>
            <a:endParaRPr lang="en-IN"/>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AF193759-E2B1-4998-AED3-6AAFC06B0F0B}" type="slidenum">
              <a:rPr lang="en-IN" smtClean="0"/>
              <a:t>‹#›</a:t>
            </a:fld>
            <a:endParaRPr lang="en-IN"/>
          </a:p>
        </p:txBody>
      </p:sp>
    </p:spTree>
    <p:extLst>
      <p:ext uri="{BB962C8B-B14F-4D97-AF65-F5344CB8AC3E}">
        <p14:creationId xmlns:p14="http://schemas.microsoft.com/office/powerpoint/2010/main" val="2596485864"/>
      </p:ext>
    </p:extLst>
  </p:cSld>
  <p:clrMap bg1="lt1" tx1="dk1" bg2="lt2" tx2="dk2" accent1="accent1" accent2="accent2" accent3="accent3" accent4="accent4" accent5="accent5" accent6="accent6" hlink="hlink" folHlink="folHlink"/>
  <p:sldLayoutIdLst>
    <p:sldLayoutId id="2147483785" r:id="rId1"/>
    <p:sldLayoutId id="2147483786" r:id="rId2"/>
    <p:sldLayoutId id="2147483787" r:id="rId3"/>
    <p:sldLayoutId id="2147483788" r:id="rId4"/>
    <p:sldLayoutId id="2147483789" r:id="rId5"/>
    <p:sldLayoutId id="2147483790" r:id="rId6"/>
    <p:sldLayoutId id="2147483791" r:id="rId7"/>
    <p:sldLayoutId id="2147483792" r:id="rId8"/>
    <p:sldLayoutId id="2147483793" r:id="rId9"/>
    <p:sldLayoutId id="2147483794" r:id="rId10"/>
    <p:sldLayoutId id="2147483795" r:id="rId11"/>
    <p:sldLayoutId id="2147483796" r:id="rId12"/>
    <p:sldLayoutId id="2147483797" r:id="rId13"/>
    <p:sldLayoutId id="2147483798" r:id="rId14"/>
    <p:sldLayoutId id="2147483799" r:id="rId15"/>
    <p:sldLayoutId id="2147483800"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6.xml"/><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43BE97A-85C1-3B47-871E-A6E2C459586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22373" y="179446"/>
            <a:ext cx="2231572" cy="2073897"/>
          </a:xfrm>
          <a:prstGeom prst="rect">
            <a:avLst/>
          </a:prstGeom>
        </p:spPr>
      </p:pic>
      <p:sp>
        <p:nvSpPr>
          <p:cNvPr id="6" name="Title 5">
            <a:extLst>
              <a:ext uri="{FF2B5EF4-FFF2-40B4-BE49-F238E27FC236}">
                <a16:creationId xmlns:a16="http://schemas.microsoft.com/office/drawing/2014/main" id="{1F60B71C-64A0-A18B-550A-B38522FFE1E2}"/>
              </a:ext>
            </a:extLst>
          </p:cNvPr>
          <p:cNvSpPr>
            <a:spLocks noGrp="1"/>
          </p:cNvSpPr>
          <p:nvPr>
            <p:ph type="title"/>
          </p:nvPr>
        </p:nvSpPr>
        <p:spPr>
          <a:xfrm>
            <a:off x="1252728" y="2148746"/>
            <a:ext cx="9884663" cy="800753"/>
          </a:xfrm>
        </p:spPr>
        <p:txBody>
          <a:bodyPr>
            <a:normAutofit fontScale="90000"/>
          </a:bodyPr>
          <a:lstStyle/>
          <a:p>
            <a:pPr>
              <a:lnSpc>
                <a:spcPct val="150000"/>
              </a:lnSpc>
            </a:pPr>
            <a:r>
              <a:rPr lang="en-IN" dirty="0">
                <a:latin typeface="Times New Roman" panose="02020603050405020304" pitchFamily="18" charset="0"/>
                <a:cs typeface="Times New Roman" panose="02020603050405020304" pitchFamily="18" charset="0"/>
              </a:rPr>
              <a:t>TOP YOUTUBE CHANNELS AND VIEWS ANALYSIS</a:t>
            </a:r>
          </a:p>
        </p:txBody>
      </p:sp>
      <p:sp>
        <p:nvSpPr>
          <p:cNvPr id="3" name="TextBox 2">
            <a:extLst>
              <a:ext uri="{FF2B5EF4-FFF2-40B4-BE49-F238E27FC236}">
                <a16:creationId xmlns:a16="http://schemas.microsoft.com/office/drawing/2014/main" id="{A8B6ED2B-56D5-728B-677A-78F1DC01CB67}"/>
              </a:ext>
            </a:extLst>
          </p:cNvPr>
          <p:cNvSpPr txBox="1"/>
          <p:nvPr/>
        </p:nvSpPr>
        <p:spPr>
          <a:xfrm>
            <a:off x="4005945" y="3645656"/>
            <a:ext cx="6096000" cy="1938992"/>
          </a:xfrm>
          <a:prstGeom prst="rect">
            <a:avLst/>
          </a:prstGeom>
          <a:noFill/>
        </p:spPr>
        <p:txBody>
          <a:bodyPr wrap="square">
            <a:spAutoFit/>
          </a:bodyPr>
          <a:lstStyle/>
          <a:p>
            <a:r>
              <a:rPr lang="en-IN" sz="2400" dirty="0" err="1">
                <a:latin typeface="Times New Roman" panose="02020603050405020304" pitchFamily="18" charset="0"/>
                <a:cs typeface="Times New Roman" panose="02020603050405020304" pitchFamily="18" charset="0"/>
              </a:rPr>
              <a:t>K.Beaula</a:t>
            </a:r>
            <a:r>
              <a:rPr lang="en-IN" sz="2400" dirty="0">
                <a:latin typeface="Times New Roman" panose="02020603050405020304" pitchFamily="18" charset="0"/>
                <a:cs typeface="Times New Roman" panose="02020603050405020304" pitchFamily="18" charset="0"/>
              </a:rPr>
              <a:t> </a:t>
            </a:r>
            <a:r>
              <a:rPr lang="en-IN" sz="2400" dirty="0" err="1">
                <a:latin typeface="Times New Roman" panose="02020603050405020304" pitchFamily="18" charset="0"/>
                <a:cs typeface="Times New Roman" panose="02020603050405020304" pitchFamily="18" charset="0"/>
              </a:rPr>
              <a:t>sharon</a:t>
            </a:r>
            <a:r>
              <a:rPr lang="en-IN" sz="2400" dirty="0">
                <a:latin typeface="Times New Roman" panose="02020603050405020304" pitchFamily="18" charset="0"/>
                <a:cs typeface="Times New Roman" panose="02020603050405020304" pitchFamily="18" charset="0"/>
              </a:rPr>
              <a:t>  -      22091A3212</a:t>
            </a:r>
          </a:p>
          <a:p>
            <a:r>
              <a:rPr lang="en-IN" sz="2400" dirty="0" err="1">
                <a:latin typeface="Times New Roman" panose="02020603050405020304" pitchFamily="18" charset="0"/>
                <a:cs typeface="Times New Roman" panose="02020603050405020304" pitchFamily="18" charset="0"/>
              </a:rPr>
              <a:t>J.Chandhana</a:t>
            </a:r>
            <a:r>
              <a:rPr lang="en-IN" sz="2400" dirty="0">
                <a:latin typeface="Times New Roman" panose="02020603050405020304" pitchFamily="18" charset="0"/>
                <a:cs typeface="Times New Roman" panose="02020603050405020304" pitchFamily="18" charset="0"/>
              </a:rPr>
              <a:t>        -      22091A3216</a:t>
            </a:r>
          </a:p>
          <a:p>
            <a:r>
              <a:rPr lang="en-IN" sz="2400" dirty="0" err="1">
                <a:latin typeface="Times New Roman" panose="02020603050405020304" pitchFamily="18" charset="0"/>
                <a:cs typeface="Times New Roman" panose="02020603050405020304" pitchFamily="18" charset="0"/>
              </a:rPr>
              <a:t>N.Gowthami</a:t>
            </a:r>
            <a:r>
              <a:rPr lang="en-IN" sz="2400" dirty="0">
                <a:latin typeface="Times New Roman" panose="02020603050405020304" pitchFamily="18" charset="0"/>
                <a:cs typeface="Times New Roman" panose="02020603050405020304" pitchFamily="18" charset="0"/>
              </a:rPr>
              <a:t>        </a:t>
            </a:r>
            <a:r>
              <a:rPr lang="en-IN" sz="2400">
                <a:latin typeface="Times New Roman" panose="02020603050405020304" pitchFamily="18" charset="0"/>
                <a:cs typeface="Times New Roman" panose="02020603050405020304" pitchFamily="18" charset="0"/>
              </a:rPr>
              <a:t>-     22091A3225</a:t>
            </a:r>
            <a:endParaRPr lang="en-IN" sz="2400" dirty="0">
              <a:latin typeface="Times New Roman" panose="02020603050405020304" pitchFamily="18" charset="0"/>
              <a:cs typeface="Times New Roman" panose="02020603050405020304" pitchFamily="18" charset="0"/>
            </a:endParaRPr>
          </a:p>
          <a:p>
            <a:r>
              <a:rPr lang="en-IN" sz="2400" dirty="0" err="1">
                <a:latin typeface="Times New Roman" panose="02020603050405020304" pitchFamily="18" charset="0"/>
                <a:cs typeface="Times New Roman" panose="02020603050405020304" pitchFamily="18" charset="0"/>
              </a:rPr>
              <a:t>S.Hyndavi</a:t>
            </a:r>
            <a:r>
              <a:rPr lang="en-IN" sz="2400" dirty="0">
                <a:latin typeface="Times New Roman" panose="02020603050405020304" pitchFamily="18" charset="0"/>
                <a:cs typeface="Times New Roman" panose="02020603050405020304" pitchFamily="18" charset="0"/>
              </a:rPr>
              <a:t>            -     22091A3240</a:t>
            </a:r>
          </a:p>
          <a:p>
            <a:r>
              <a:rPr lang="en-IN" sz="2400" dirty="0" err="1">
                <a:latin typeface="Times New Roman" panose="02020603050405020304" pitchFamily="18" charset="0"/>
                <a:cs typeface="Times New Roman" panose="02020603050405020304" pitchFamily="18" charset="0"/>
              </a:rPr>
              <a:t>D.Indu</a:t>
            </a:r>
            <a:r>
              <a:rPr lang="en-IN" sz="2400" dirty="0">
                <a:latin typeface="Times New Roman" panose="02020603050405020304" pitchFamily="18" charset="0"/>
                <a:cs typeface="Times New Roman" panose="02020603050405020304" pitchFamily="18" charset="0"/>
              </a:rPr>
              <a:t> </a:t>
            </a:r>
            <a:r>
              <a:rPr lang="en-IN" sz="2400" dirty="0" err="1">
                <a:latin typeface="Times New Roman" panose="02020603050405020304" pitchFamily="18" charset="0"/>
                <a:cs typeface="Times New Roman" panose="02020603050405020304" pitchFamily="18" charset="0"/>
              </a:rPr>
              <a:t>mahela</a:t>
            </a:r>
            <a:r>
              <a:rPr lang="en-IN" sz="2400" dirty="0">
                <a:latin typeface="Times New Roman" panose="02020603050405020304" pitchFamily="18" charset="0"/>
                <a:cs typeface="Times New Roman" panose="02020603050405020304" pitchFamily="18" charset="0"/>
              </a:rPr>
              <a:t>     -      22091A3243</a:t>
            </a:r>
          </a:p>
        </p:txBody>
      </p:sp>
    </p:spTree>
    <p:extLst>
      <p:ext uri="{BB962C8B-B14F-4D97-AF65-F5344CB8AC3E}">
        <p14:creationId xmlns:p14="http://schemas.microsoft.com/office/powerpoint/2010/main" val="35974369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650F29-FC3A-E443-2D5D-775E53741755}"/>
              </a:ext>
            </a:extLst>
          </p:cNvPr>
          <p:cNvSpPr>
            <a:spLocks noGrp="1"/>
          </p:cNvSpPr>
          <p:nvPr>
            <p:ph type="title"/>
          </p:nvPr>
        </p:nvSpPr>
        <p:spPr/>
        <p:txBody>
          <a:bodyPr>
            <a:normAutofit/>
          </a:bodyPr>
          <a:lstStyle/>
          <a:p>
            <a:r>
              <a:rPr lang="en-US" b="1" dirty="0">
                <a:solidFill>
                  <a:schemeClr val="accent3"/>
                </a:solidFill>
                <a:latin typeface="Montserrat" charset="0"/>
                <a:ea typeface="Montserrat" charset="0"/>
                <a:cs typeface="Montserrat" charset="0"/>
              </a:rPr>
              <a:t>CONTENTS</a:t>
            </a:r>
            <a:br>
              <a:rPr lang="en-US" b="1" dirty="0">
                <a:solidFill>
                  <a:schemeClr val="accent3"/>
                </a:solidFill>
                <a:latin typeface="Montserrat" charset="0"/>
                <a:ea typeface="Montserrat" charset="0"/>
                <a:cs typeface="Montserrat" charset="0"/>
              </a:rPr>
            </a:br>
            <a:endParaRPr lang="en-IN" dirty="0"/>
          </a:p>
        </p:txBody>
      </p:sp>
      <p:sp>
        <p:nvSpPr>
          <p:cNvPr id="4" name="TextBox 3">
            <a:extLst>
              <a:ext uri="{FF2B5EF4-FFF2-40B4-BE49-F238E27FC236}">
                <a16:creationId xmlns:a16="http://schemas.microsoft.com/office/drawing/2014/main" id="{937ADC11-DF6A-7E14-A877-0A630CA4464B}"/>
              </a:ext>
            </a:extLst>
          </p:cNvPr>
          <p:cNvSpPr txBox="1"/>
          <p:nvPr/>
        </p:nvSpPr>
        <p:spPr>
          <a:xfrm>
            <a:off x="3048000" y="1957436"/>
            <a:ext cx="6096000" cy="3907865"/>
          </a:xfrm>
          <a:prstGeom prst="rect">
            <a:avLst/>
          </a:prstGeom>
          <a:noFill/>
        </p:spPr>
        <p:txBody>
          <a:bodyPr wrap="square">
            <a:spAutoFit/>
          </a:bodyPr>
          <a:lstStyle/>
          <a:p>
            <a:pPr marL="457200" indent="-457200" algn="just">
              <a:lnSpc>
                <a:spcPct val="150000"/>
              </a:lnSpc>
              <a:buFont typeface="Arial" panose="020B0604020202020204" pitchFamily="34" charset="0"/>
              <a:buChar char="•"/>
            </a:pPr>
            <a:r>
              <a:rPr lang="en-US" sz="2400" dirty="0">
                <a:solidFill>
                  <a:srgbClr val="242C35"/>
                </a:solidFill>
                <a:latin typeface="Times New Roman" panose="02020603050405020304" pitchFamily="18" charset="0"/>
                <a:ea typeface="Montserrat Light" charset="0"/>
                <a:cs typeface="Times New Roman" panose="02020603050405020304" pitchFamily="18" charset="0"/>
              </a:rPr>
              <a:t>Abstract</a:t>
            </a:r>
          </a:p>
          <a:p>
            <a:pPr marL="457200" indent="-457200" algn="just">
              <a:lnSpc>
                <a:spcPct val="150000"/>
              </a:lnSpc>
              <a:buFont typeface="Arial" panose="020B0604020202020204" pitchFamily="34" charset="0"/>
              <a:buChar char="•"/>
            </a:pPr>
            <a:r>
              <a:rPr lang="en-US" sz="2400" dirty="0">
                <a:solidFill>
                  <a:srgbClr val="242C35"/>
                </a:solidFill>
                <a:latin typeface="Times New Roman" panose="02020603050405020304" pitchFamily="18" charset="0"/>
                <a:ea typeface="Montserrat Light" charset="0"/>
                <a:cs typeface="Times New Roman" panose="02020603050405020304" pitchFamily="18" charset="0"/>
              </a:rPr>
              <a:t>Introduction</a:t>
            </a:r>
          </a:p>
          <a:p>
            <a:pPr marL="457200" indent="-457200" algn="just">
              <a:lnSpc>
                <a:spcPct val="150000"/>
              </a:lnSpc>
              <a:buFont typeface="Arial" panose="020B0604020202020204" pitchFamily="34" charset="0"/>
              <a:buChar char="•"/>
            </a:pPr>
            <a:r>
              <a:rPr lang="en-US" sz="2400" dirty="0">
                <a:solidFill>
                  <a:srgbClr val="242C35"/>
                </a:solidFill>
                <a:latin typeface="Times New Roman" panose="02020603050405020304" pitchFamily="18" charset="0"/>
                <a:ea typeface="Montserrat Light" charset="0"/>
                <a:cs typeface="Times New Roman" panose="02020603050405020304" pitchFamily="18" charset="0"/>
              </a:rPr>
              <a:t>System Requirements</a:t>
            </a:r>
          </a:p>
          <a:p>
            <a:pPr marL="457200" indent="-457200" algn="just">
              <a:lnSpc>
                <a:spcPct val="150000"/>
              </a:lnSpc>
              <a:buFont typeface="Arial" panose="020B0604020202020204" pitchFamily="34" charset="0"/>
              <a:buChar char="•"/>
            </a:pPr>
            <a:r>
              <a:rPr lang="en-US" sz="2400" dirty="0">
                <a:solidFill>
                  <a:srgbClr val="242C35"/>
                </a:solidFill>
                <a:latin typeface="Times New Roman" panose="02020603050405020304" pitchFamily="18" charset="0"/>
                <a:ea typeface="Montserrat Light" charset="0"/>
                <a:cs typeface="Times New Roman" panose="02020603050405020304" pitchFamily="18" charset="0"/>
              </a:rPr>
              <a:t>Architecture</a:t>
            </a:r>
          </a:p>
          <a:p>
            <a:pPr marL="457200" indent="-457200" algn="just">
              <a:lnSpc>
                <a:spcPct val="150000"/>
              </a:lnSpc>
              <a:buFont typeface="Arial" panose="020B0604020202020204" pitchFamily="34" charset="0"/>
              <a:buChar char="•"/>
            </a:pPr>
            <a:r>
              <a:rPr lang="en-US" sz="2400" dirty="0">
                <a:solidFill>
                  <a:srgbClr val="242C35"/>
                </a:solidFill>
                <a:latin typeface="Times New Roman" panose="02020603050405020304" pitchFamily="18" charset="0"/>
                <a:ea typeface="Montserrat Light" charset="0"/>
                <a:cs typeface="Times New Roman" panose="02020603050405020304" pitchFamily="18" charset="0"/>
              </a:rPr>
              <a:t>Uses of data analysis library</a:t>
            </a:r>
          </a:p>
          <a:p>
            <a:pPr marL="457200" indent="-457200" algn="just">
              <a:lnSpc>
                <a:spcPct val="150000"/>
              </a:lnSpc>
              <a:buFont typeface="Arial" panose="020B0604020202020204" pitchFamily="34" charset="0"/>
              <a:buChar char="•"/>
            </a:pPr>
            <a:r>
              <a:rPr lang="en-US" sz="2400" dirty="0">
                <a:solidFill>
                  <a:srgbClr val="242C35"/>
                </a:solidFill>
                <a:latin typeface="Times New Roman" panose="02020603050405020304" pitchFamily="18" charset="0"/>
                <a:ea typeface="Montserrat Light" charset="0"/>
                <a:cs typeface="Times New Roman" panose="02020603050405020304" pitchFamily="18" charset="0"/>
              </a:rPr>
              <a:t>Advantages</a:t>
            </a:r>
          </a:p>
          <a:p>
            <a:pPr marL="457200" indent="-457200" algn="just">
              <a:lnSpc>
                <a:spcPct val="150000"/>
              </a:lnSpc>
              <a:buFont typeface="Arial" panose="020B0604020202020204" pitchFamily="34" charset="0"/>
              <a:buChar char="•"/>
            </a:pPr>
            <a:r>
              <a:rPr lang="en-US" sz="2400" dirty="0">
                <a:solidFill>
                  <a:srgbClr val="242C35"/>
                </a:solidFill>
                <a:latin typeface="Times New Roman" panose="02020603050405020304" pitchFamily="18" charset="0"/>
                <a:ea typeface="Montserrat Light" charset="0"/>
                <a:cs typeface="Times New Roman" panose="02020603050405020304" pitchFamily="18" charset="0"/>
              </a:rPr>
              <a:t>Conclusion</a:t>
            </a:r>
          </a:p>
        </p:txBody>
      </p:sp>
    </p:spTree>
    <p:extLst>
      <p:ext uri="{BB962C8B-B14F-4D97-AF65-F5344CB8AC3E}">
        <p14:creationId xmlns:p14="http://schemas.microsoft.com/office/powerpoint/2010/main" val="2972802847"/>
      </p:ext>
    </p:extLst>
  </p:cSld>
  <p:clrMapOvr>
    <a:masterClrMapping/>
  </p:clrMapOvr>
  <p:transition spd="slow">
    <p:push dir="u"/>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1F6FDD-D8C6-2B53-F78F-9E4EA141F156}"/>
              </a:ext>
            </a:extLst>
          </p:cNvPr>
          <p:cNvSpPr>
            <a:spLocks noGrp="1"/>
          </p:cNvSpPr>
          <p:nvPr>
            <p:ph type="title"/>
          </p:nvPr>
        </p:nvSpPr>
        <p:spPr>
          <a:xfrm>
            <a:off x="1476870" y="685797"/>
            <a:ext cx="8911687" cy="1280890"/>
          </a:xfrm>
        </p:spPr>
        <p:txBody>
          <a:bodyPr>
            <a:normAutofit/>
          </a:bodyPr>
          <a:lstStyle/>
          <a:p>
            <a:r>
              <a:rPr lang="en-IN" sz="4400" dirty="0">
                <a:latin typeface="Times New Roman" panose="02020603050405020304" pitchFamily="18" charset="0"/>
                <a:cs typeface="Times New Roman" panose="02020603050405020304" pitchFamily="18" charset="0"/>
              </a:rPr>
              <a:t>ABSTRACT</a:t>
            </a:r>
          </a:p>
        </p:txBody>
      </p:sp>
      <p:sp>
        <p:nvSpPr>
          <p:cNvPr id="4" name="TextBox 3">
            <a:extLst>
              <a:ext uri="{FF2B5EF4-FFF2-40B4-BE49-F238E27FC236}">
                <a16:creationId xmlns:a16="http://schemas.microsoft.com/office/drawing/2014/main" id="{7C599997-5D62-E424-DF4F-FEF97E201C9B}"/>
              </a:ext>
            </a:extLst>
          </p:cNvPr>
          <p:cNvSpPr txBox="1"/>
          <p:nvPr/>
        </p:nvSpPr>
        <p:spPr>
          <a:xfrm>
            <a:off x="1476870" y="1655791"/>
            <a:ext cx="9691169" cy="4653646"/>
          </a:xfrm>
          <a:prstGeom prst="rect">
            <a:avLst/>
          </a:prstGeom>
          <a:noFill/>
        </p:spPr>
        <p:txBody>
          <a:bodyPr wrap="square">
            <a:spAutoFit/>
          </a:bodyPr>
          <a:lstStyle/>
          <a:p>
            <a:pPr marL="342900" indent="-342900">
              <a:lnSpc>
                <a:spcPct val="150000"/>
              </a:lnSpc>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This project presents a comprehensive data analysis of the top YouTube channels based on their total views, subscriber counts, video uploads, and content categories.</a:t>
            </a:r>
          </a:p>
          <a:p>
            <a:pPr marL="342900" indent="-342900">
              <a:lnSpc>
                <a:spcPct val="150000"/>
              </a:lnSpc>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 YouTube, being the world’s largest video-sharing platform, offers vast insights into audience preferences, content trends, and creator performance. </a:t>
            </a:r>
          </a:p>
          <a:p>
            <a:pPr marL="342900" indent="-342900">
              <a:lnSpc>
                <a:spcPct val="150000"/>
              </a:lnSpc>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The objective of this study is to understand what drives viewership and popularity on YouTube by examining metrics such as average views per video, growth trends by category (e.g., Music, Gaming, Education), and the geographical distribution of top-performing channels.</a:t>
            </a:r>
          </a:p>
          <a:p>
            <a:pPr marL="342900" indent="-342900">
              <a:lnSpc>
                <a:spcPct val="150000"/>
              </a:lnSpc>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 Visualizations help highlight the dominance of certain categories, the rise of regional content creators, and the relationship between content volume and audience reach.</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1479823"/>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2D3CA7-D7AD-245C-5123-CB35EE46DA4A}"/>
              </a:ext>
            </a:extLst>
          </p:cNvPr>
          <p:cNvSpPr>
            <a:spLocks noGrp="1"/>
          </p:cNvSpPr>
          <p:nvPr>
            <p:ph type="title"/>
          </p:nvPr>
        </p:nvSpPr>
        <p:spPr>
          <a:xfrm>
            <a:off x="1640156" y="556546"/>
            <a:ext cx="8911687" cy="1280890"/>
          </a:xfrm>
        </p:spPr>
        <p:txBody>
          <a:bodyPr>
            <a:normAutofit fontScale="90000"/>
          </a:bodyPr>
          <a:lstStyle/>
          <a:p>
            <a:r>
              <a:rPr lang="en-IN" sz="4400" dirty="0">
                <a:latin typeface="Times New Roman" panose="02020603050405020304" pitchFamily="18" charset="0"/>
                <a:cs typeface="Times New Roman" panose="02020603050405020304" pitchFamily="18" charset="0"/>
              </a:rPr>
              <a:t>INTRODUCTION</a:t>
            </a:r>
            <a:br>
              <a:rPr lang="en-IN" sz="9600" dirty="0"/>
            </a:br>
            <a:endParaRPr lang="en-IN" dirty="0"/>
          </a:p>
        </p:txBody>
      </p:sp>
      <p:sp>
        <p:nvSpPr>
          <p:cNvPr id="4" name="TextBox 3">
            <a:extLst>
              <a:ext uri="{FF2B5EF4-FFF2-40B4-BE49-F238E27FC236}">
                <a16:creationId xmlns:a16="http://schemas.microsoft.com/office/drawing/2014/main" id="{D2F12E32-0859-BA50-C035-D675128CC43E}"/>
              </a:ext>
            </a:extLst>
          </p:cNvPr>
          <p:cNvSpPr txBox="1"/>
          <p:nvPr/>
        </p:nvSpPr>
        <p:spPr>
          <a:xfrm>
            <a:off x="1193291" y="1457069"/>
            <a:ext cx="9805416" cy="5115311"/>
          </a:xfrm>
          <a:prstGeom prst="rect">
            <a:avLst/>
          </a:prstGeom>
          <a:noFill/>
        </p:spPr>
        <p:txBody>
          <a:bodyPr wrap="square">
            <a:spAutoFit/>
          </a:bodyPr>
          <a:lstStyle/>
          <a:p>
            <a:pPr marL="285750" indent="-285750">
              <a:lnSpc>
                <a:spcPct val="150000"/>
              </a:lnSpc>
              <a:buFont typeface="Wingdings" panose="05000000000000000000" pitchFamily="2" charset="2"/>
              <a:buChar char="q"/>
            </a:pPr>
            <a:r>
              <a:rPr lang="en-US" sz="2000" dirty="0">
                <a:latin typeface="Times New Roman" panose="02020603050405020304" pitchFamily="18" charset="0"/>
                <a:cs typeface="Times New Roman" panose="02020603050405020304" pitchFamily="18" charset="0"/>
              </a:rPr>
              <a:t> YouTube is the world’s largest video-sharing platform, hosting billions of videos and users worldwide.</a:t>
            </a:r>
          </a:p>
          <a:p>
            <a:pPr marL="285750" indent="-285750">
              <a:lnSpc>
                <a:spcPct val="150000"/>
              </a:lnSpc>
              <a:buFont typeface="Wingdings" panose="05000000000000000000" pitchFamily="2" charset="2"/>
              <a:buChar char="q"/>
            </a:pPr>
            <a:r>
              <a:rPr lang="en-US" sz="2000" dirty="0">
                <a:latin typeface="Times New Roman" panose="02020603050405020304" pitchFamily="18" charset="0"/>
                <a:cs typeface="Times New Roman" panose="02020603050405020304" pitchFamily="18" charset="0"/>
              </a:rPr>
              <a:t> It plays a crucial role in digital content creation, marketing, education, and entertainment.</a:t>
            </a:r>
          </a:p>
          <a:p>
            <a:pPr marL="285750" indent="-285750">
              <a:lnSpc>
                <a:spcPct val="150000"/>
              </a:lnSpc>
              <a:buFont typeface="Wingdings" panose="05000000000000000000" pitchFamily="2" charset="2"/>
              <a:buChar char="q"/>
            </a:pPr>
            <a:r>
              <a:rPr lang="en-US" sz="2000" dirty="0">
                <a:latin typeface="Times New Roman" panose="02020603050405020304" pitchFamily="18" charset="0"/>
                <a:cs typeface="Times New Roman" panose="02020603050405020304" pitchFamily="18" charset="0"/>
              </a:rPr>
              <a:t>Analyzing top YouTube channels helps uncover trends in content popularity, audience behavior, and creator performance.</a:t>
            </a:r>
          </a:p>
          <a:p>
            <a:pPr marL="285750" indent="-285750">
              <a:lnSpc>
                <a:spcPct val="150000"/>
              </a:lnSpc>
              <a:buFont typeface="Wingdings" panose="05000000000000000000" pitchFamily="2" charset="2"/>
              <a:buChar char="q"/>
            </a:pPr>
            <a:r>
              <a:rPr lang="en-US" sz="2000" dirty="0">
                <a:latin typeface="Times New Roman" panose="02020603050405020304" pitchFamily="18" charset="0"/>
                <a:cs typeface="Times New Roman" panose="02020603050405020304" pitchFamily="18" charset="0"/>
              </a:rPr>
              <a:t> This project focuses on data analysis of over 1000 top YouTube channels using Python-based tools.</a:t>
            </a:r>
          </a:p>
          <a:p>
            <a:pPr marL="285750" indent="-285750">
              <a:lnSpc>
                <a:spcPct val="150000"/>
              </a:lnSpc>
              <a:buFont typeface="Wingdings" panose="05000000000000000000" pitchFamily="2" charset="2"/>
              <a:buChar char="q"/>
            </a:pPr>
            <a:r>
              <a:rPr lang="en-US" sz="2000" dirty="0">
                <a:latin typeface="Times New Roman" panose="02020603050405020304" pitchFamily="18" charset="0"/>
                <a:cs typeface="Times New Roman" panose="02020603050405020304" pitchFamily="18" charset="0"/>
              </a:rPr>
              <a:t>The dataset includes information like channel name, category, country, total views, subscriber count, and number of uploads.</a:t>
            </a:r>
          </a:p>
          <a:p>
            <a:pPr marL="285750" indent="-285750">
              <a:lnSpc>
                <a:spcPct val="150000"/>
              </a:lnSpc>
              <a:buFont typeface="Wingdings" panose="05000000000000000000" pitchFamily="2" charset="2"/>
              <a:buChar char="q"/>
            </a:pPr>
            <a:r>
              <a:rPr lang="en-US" sz="2000" dirty="0">
                <a:latin typeface="Times New Roman" panose="02020603050405020304" pitchFamily="18" charset="0"/>
                <a:cs typeface="Times New Roman" panose="02020603050405020304" pitchFamily="18" charset="0"/>
              </a:rPr>
              <a:t> The goal is to identify which categories perform best, which countries lead in content creation, and how viewership correlates with uploads.</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070645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B531BD-744D-8176-A0D0-F1E1A864836A}"/>
              </a:ext>
            </a:extLst>
          </p:cNvPr>
          <p:cNvSpPr>
            <a:spLocks noGrp="1"/>
          </p:cNvSpPr>
          <p:nvPr>
            <p:ph type="title"/>
          </p:nvPr>
        </p:nvSpPr>
        <p:spPr>
          <a:xfrm>
            <a:off x="1459747" y="634996"/>
            <a:ext cx="6474876" cy="856347"/>
          </a:xfrm>
        </p:spPr>
        <p:txBody>
          <a:bodyPr>
            <a:normAutofit fontScale="90000"/>
          </a:bodyPr>
          <a:lstStyle/>
          <a:p>
            <a:r>
              <a:rPr lang="en-IN" sz="4400" dirty="0">
                <a:latin typeface="Times New Roman" panose="02020603050405020304" pitchFamily="18" charset="0"/>
                <a:cs typeface="Times New Roman" panose="02020603050405020304" pitchFamily="18" charset="0"/>
              </a:rPr>
              <a:t>SYSTEM REQUIREMENTS</a:t>
            </a:r>
            <a:br>
              <a:rPr lang="en-IN" dirty="0"/>
            </a:br>
            <a:endParaRPr lang="en-IN" dirty="0"/>
          </a:p>
        </p:txBody>
      </p:sp>
      <p:sp>
        <p:nvSpPr>
          <p:cNvPr id="3" name="TextBox 2">
            <a:extLst>
              <a:ext uri="{FF2B5EF4-FFF2-40B4-BE49-F238E27FC236}">
                <a16:creationId xmlns:a16="http://schemas.microsoft.com/office/drawing/2014/main" id="{7B09ACEA-0BDC-6391-98E1-5CA5DC749243}"/>
              </a:ext>
            </a:extLst>
          </p:cNvPr>
          <p:cNvSpPr txBox="1"/>
          <p:nvPr/>
        </p:nvSpPr>
        <p:spPr>
          <a:xfrm>
            <a:off x="1621971" y="1707812"/>
            <a:ext cx="5736771" cy="523220"/>
          </a:xfrm>
          <a:prstGeom prst="rect">
            <a:avLst/>
          </a:prstGeom>
          <a:noFill/>
        </p:spPr>
        <p:txBody>
          <a:bodyPr wrap="square" rtlCol="0">
            <a:spAutoFit/>
          </a:bodyPr>
          <a:lstStyle/>
          <a:p>
            <a:pPr marL="457200" indent="-457200">
              <a:buFont typeface="Wingdings" panose="05000000000000000000" pitchFamily="2" charset="2"/>
              <a:buChar char="Ø"/>
            </a:pPr>
            <a:r>
              <a:rPr lang="en-IN" sz="2800" b="1" dirty="0">
                <a:latin typeface="Times New Roman" panose="02020603050405020304" pitchFamily="18" charset="0"/>
                <a:cs typeface="Times New Roman" panose="02020603050405020304" pitchFamily="18" charset="0"/>
              </a:rPr>
              <a:t>Software Requirements:</a:t>
            </a:r>
          </a:p>
        </p:txBody>
      </p:sp>
      <p:sp>
        <p:nvSpPr>
          <p:cNvPr id="5" name="TextBox 4">
            <a:extLst>
              <a:ext uri="{FF2B5EF4-FFF2-40B4-BE49-F238E27FC236}">
                <a16:creationId xmlns:a16="http://schemas.microsoft.com/office/drawing/2014/main" id="{CACEE07A-55C3-5648-57FF-94C63654106B}"/>
              </a:ext>
            </a:extLst>
          </p:cNvPr>
          <p:cNvSpPr txBox="1"/>
          <p:nvPr/>
        </p:nvSpPr>
        <p:spPr>
          <a:xfrm>
            <a:off x="2841172" y="2447502"/>
            <a:ext cx="8120743" cy="3970318"/>
          </a:xfrm>
          <a:prstGeom prst="rect">
            <a:avLst/>
          </a:prstGeom>
          <a:noFill/>
        </p:spPr>
        <p:txBody>
          <a:bodyPr wrap="square" rtlCol="0">
            <a:spAutoFit/>
          </a:bodyPr>
          <a:lstStyle/>
          <a:p>
            <a:pPr marL="342900" indent="-342900">
              <a:buFont typeface="Wingdings" panose="05000000000000000000" pitchFamily="2" charset="2"/>
              <a:buChar char="§"/>
            </a:pPr>
            <a:r>
              <a:rPr lang="en-US" sz="2400" b="1" dirty="0">
                <a:latin typeface="Times New Roman" panose="02020603050405020304" pitchFamily="18" charset="0"/>
                <a:ea typeface="Montserrat Light" charset="0"/>
                <a:cs typeface="Times New Roman" panose="02020603050405020304" pitchFamily="18" charset="0"/>
              </a:rPr>
              <a:t>OPERATING SYSTEM:</a:t>
            </a:r>
          </a:p>
          <a:p>
            <a:pPr lvl="1"/>
            <a:r>
              <a:rPr lang="en-US" sz="2400" dirty="0">
                <a:solidFill>
                  <a:schemeClr val="tx1">
                    <a:lumMod val="95000"/>
                    <a:lumOff val="5000"/>
                  </a:schemeClr>
                </a:solidFill>
                <a:latin typeface="Times New Roman" panose="02020603050405020304" pitchFamily="18" charset="0"/>
                <a:ea typeface="Montserrat Light" charset="0"/>
                <a:cs typeface="Times New Roman" panose="02020603050405020304" pitchFamily="18" charset="0"/>
              </a:rPr>
              <a:t>The analysis can be performed on Windows </a:t>
            </a:r>
            <a:r>
              <a:rPr lang="en-US" sz="2400" dirty="0">
                <a:solidFill>
                  <a:schemeClr val="tx1">
                    <a:lumMod val="95000"/>
                    <a:lumOff val="5000"/>
                  </a:schemeClr>
                </a:solidFill>
                <a:latin typeface="Montserrat Light" charset="0"/>
                <a:ea typeface="Montserrat Light" charset="0"/>
                <a:cs typeface="Montserrat Light" charset="0"/>
              </a:rPr>
              <a:t>.</a:t>
            </a:r>
          </a:p>
          <a:p>
            <a:pPr lvl="1"/>
            <a:endParaRPr lang="en-US" dirty="0">
              <a:latin typeface="Montserrat Light" charset="0"/>
              <a:ea typeface="Montserrat Light" charset="0"/>
              <a:cs typeface="Montserrat Light" charset="0"/>
            </a:endParaRPr>
          </a:p>
          <a:p>
            <a:pPr marL="342900" indent="-342900">
              <a:buFont typeface="Wingdings" panose="05000000000000000000" pitchFamily="2" charset="2"/>
              <a:buChar char="§"/>
            </a:pPr>
            <a:r>
              <a:rPr lang="en-US" sz="2400" b="1" dirty="0">
                <a:latin typeface="Times New Roman" panose="02020603050405020304" pitchFamily="18" charset="0"/>
                <a:ea typeface="Montserrat Light" charset="0"/>
                <a:cs typeface="Times New Roman" panose="02020603050405020304" pitchFamily="18" charset="0"/>
              </a:rPr>
              <a:t>Python</a:t>
            </a:r>
          </a:p>
          <a:p>
            <a:r>
              <a:rPr lang="en-US" sz="2400" dirty="0">
                <a:solidFill>
                  <a:schemeClr val="tx2"/>
                </a:solidFill>
                <a:latin typeface="Times New Roman" panose="02020603050405020304" pitchFamily="18" charset="0"/>
                <a:ea typeface="Montserrat Light" charset="0"/>
                <a:cs typeface="Times New Roman" panose="02020603050405020304" pitchFamily="18" charset="0"/>
              </a:rPr>
              <a:t> </a:t>
            </a:r>
            <a:r>
              <a:rPr lang="en-US" sz="2400" dirty="0">
                <a:latin typeface="Times New Roman" panose="02020603050405020304" pitchFamily="18" charset="0"/>
                <a:ea typeface="Montserrat Light" charset="0"/>
                <a:cs typeface="Times New Roman" panose="02020603050405020304" pitchFamily="18" charset="0"/>
              </a:rPr>
              <a:t>Python 3.x is required for running the analysis. </a:t>
            </a:r>
          </a:p>
          <a:p>
            <a:pPr algn="ctr"/>
            <a:endParaRPr lang="en-US" sz="2400" dirty="0">
              <a:solidFill>
                <a:schemeClr val="tx2"/>
              </a:solidFill>
              <a:latin typeface="Times New Roman" panose="02020603050405020304" pitchFamily="18" charset="0"/>
              <a:ea typeface="Montserrat Light" charset="0"/>
              <a:cs typeface="Times New Roman" panose="02020603050405020304" pitchFamily="18" charset="0"/>
            </a:endParaRPr>
          </a:p>
          <a:p>
            <a:pPr marL="342900" indent="-342900">
              <a:buFont typeface="Wingdings" panose="05000000000000000000" pitchFamily="2" charset="2"/>
              <a:buChar char="§"/>
            </a:pPr>
            <a:r>
              <a:rPr lang="en-US" sz="2400" b="1" dirty="0">
                <a:latin typeface="Times New Roman" panose="02020603050405020304" pitchFamily="18" charset="0"/>
                <a:ea typeface="Montserrat Light" charset="0"/>
                <a:cs typeface="Times New Roman" panose="02020603050405020304" pitchFamily="18" charset="0"/>
              </a:rPr>
              <a:t>Libraries:</a:t>
            </a:r>
          </a:p>
          <a:p>
            <a:pPr marL="800100" lvl="1" indent="-342900">
              <a:buFont typeface="Arial" panose="020B0604020202020204" pitchFamily="34" charset="0"/>
              <a:buChar char="•"/>
            </a:pPr>
            <a:r>
              <a:rPr lang="en-US" sz="2400" dirty="0">
                <a:latin typeface="Times New Roman" panose="02020603050405020304" pitchFamily="18" charset="0"/>
                <a:ea typeface="Montserrat Light" charset="0"/>
                <a:cs typeface="Times New Roman" panose="02020603050405020304" pitchFamily="18" charset="0"/>
              </a:rPr>
              <a:t> Pandas – for data handling</a:t>
            </a:r>
          </a:p>
          <a:p>
            <a:pPr marL="800100" lvl="1" indent="-342900">
              <a:buFont typeface="Arial" panose="020B0604020202020204" pitchFamily="34" charset="0"/>
              <a:buChar char="•"/>
            </a:pPr>
            <a:r>
              <a:rPr lang="en-US" sz="2400" dirty="0">
                <a:latin typeface="Times New Roman" panose="02020603050405020304" pitchFamily="18" charset="0"/>
                <a:ea typeface="Montserrat Light" charset="0"/>
                <a:cs typeface="Times New Roman" panose="02020603050405020304" pitchFamily="18" charset="0"/>
              </a:rPr>
              <a:t>Scikit-learn – for machine learning models</a:t>
            </a:r>
          </a:p>
          <a:p>
            <a:pPr marL="800100" lvl="1" indent="-342900">
              <a:buFont typeface="Arial" panose="020B0604020202020204" pitchFamily="34" charset="0"/>
              <a:buChar char="•"/>
            </a:pPr>
            <a:r>
              <a:rPr lang="en-US" sz="2400" dirty="0">
                <a:latin typeface="Times New Roman" panose="02020603050405020304" pitchFamily="18" charset="0"/>
                <a:ea typeface="Montserrat Light" charset="0"/>
                <a:cs typeface="Times New Roman" panose="02020603050405020304" pitchFamily="18" charset="0"/>
              </a:rPr>
              <a:t>Matplotlib / seaborn – data visualization</a:t>
            </a:r>
          </a:p>
          <a:p>
            <a:endParaRPr lang="en-IN" dirty="0"/>
          </a:p>
        </p:txBody>
      </p:sp>
    </p:spTree>
    <p:extLst>
      <p:ext uri="{BB962C8B-B14F-4D97-AF65-F5344CB8AC3E}">
        <p14:creationId xmlns:p14="http://schemas.microsoft.com/office/powerpoint/2010/main" val="16378205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4A254D-C327-700F-DDE9-5693D1A0285E}"/>
              </a:ext>
            </a:extLst>
          </p:cNvPr>
          <p:cNvSpPr>
            <a:spLocks noGrp="1"/>
          </p:cNvSpPr>
          <p:nvPr>
            <p:ph type="title"/>
          </p:nvPr>
        </p:nvSpPr>
        <p:spPr>
          <a:xfrm>
            <a:off x="1569667" y="1244596"/>
            <a:ext cx="7291305" cy="791033"/>
          </a:xfrm>
        </p:spPr>
        <p:txBody>
          <a:bodyPr>
            <a:normAutofit/>
          </a:bodyPr>
          <a:lstStyle/>
          <a:p>
            <a:pPr marL="571500" indent="-571500">
              <a:buFont typeface="Wingdings" panose="05000000000000000000" pitchFamily="2" charset="2"/>
              <a:buChar char="Ø"/>
            </a:pPr>
            <a:r>
              <a:rPr lang="en-IN" sz="2800" dirty="0">
                <a:latin typeface="Times New Roman" panose="02020603050405020304" pitchFamily="18" charset="0"/>
                <a:cs typeface="Times New Roman" panose="02020603050405020304" pitchFamily="18" charset="0"/>
              </a:rPr>
              <a:t>Hardware Requirements</a:t>
            </a:r>
          </a:p>
        </p:txBody>
      </p:sp>
      <p:sp>
        <p:nvSpPr>
          <p:cNvPr id="3" name="TextBox 2">
            <a:extLst>
              <a:ext uri="{FF2B5EF4-FFF2-40B4-BE49-F238E27FC236}">
                <a16:creationId xmlns:a16="http://schemas.microsoft.com/office/drawing/2014/main" id="{C2CF0FB1-A55D-91B8-2308-9951A0544D52}"/>
              </a:ext>
            </a:extLst>
          </p:cNvPr>
          <p:cNvSpPr txBox="1"/>
          <p:nvPr/>
        </p:nvSpPr>
        <p:spPr>
          <a:xfrm rot="10800000" flipH="1" flipV="1">
            <a:off x="2939142" y="1905506"/>
            <a:ext cx="8229600" cy="3046988"/>
          </a:xfrm>
          <a:prstGeom prst="rect">
            <a:avLst/>
          </a:prstGeom>
          <a:noFill/>
        </p:spPr>
        <p:txBody>
          <a:bodyPr wrap="square" rtlCol="0">
            <a:spAutoFit/>
          </a:bodyPr>
          <a:lstStyle/>
          <a:p>
            <a:endParaRPr lang="en-US" sz="2400" dirty="0">
              <a:solidFill>
                <a:schemeClr val="bg2">
                  <a:lumMod val="10000"/>
                </a:schemeClr>
              </a:solidFill>
              <a:latin typeface="Times New Roman" panose="02020603050405020304" pitchFamily="18" charset="0"/>
              <a:ea typeface="Montserrat Light" charset="0"/>
              <a:cs typeface="Times New Roman" panose="02020603050405020304" pitchFamily="18" charset="0"/>
            </a:endParaRPr>
          </a:p>
          <a:p>
            <a:pPr marL="342900" indent="-342900">
              <a:buFont typeface="Wingdings" panose="05000000000000000000" pitchFamily="2" charset="2"/>
              <a:buChar char="§"/>
            </a:pPr>
            <a:r>
              <a:rPr lang="en-US" sz="2400" b="1" dirty="0">
                <a:solidFill>
                  <a:schemeClr val="bg2">
                    <a:lumMod val="10000"/>
                  </a:schemeClr>
                </a:solidFill>
                <a:latin typeface="Times New Roman" panose="02020603050405020304" pitchFamily="18" charset="0"/>
                <a:ea typeface="Montserrat Light" charset="0"/>
                <a:cs typeface="Times New Roman" panose="02020603050405020304" pitchFamily="18" charset="0"/>
              </a:rPr>
              <a:t>IDE </a:t>
            </a:r>
            <a:r>
              <a:rPr lang="en-US" sz="2400" dirty="0">
                <a:solidFill>
                  <a:schemeClr val="tx1">
                    <a:lumMod val="95000"/>
                    <a:lumOff val="5000"/>
                  </a:schemeClr>
                </a:solidFill>
                <a:latin typeface="Times New Roman" panose="02020603050405020304" pitchFamily="18" charset="0"/>
                <a:ea typeface="Montserrat Light" charset="0"/>
                <a:cs typeface="Times New Roman" panose="02020603050405020304" pitchFamily="18" charset="0"/>
              </a:rPr>
              <a:t>– </a:t>
            </a:r>
            <a:r>
              <a:rPr lang="en-US" sz="2400" dirty="0" err="1">
                <a:solidFill>
                  <a:schemeClr val="tx1">
                    <a:lumMod val="95000"/>
                    <a:lumOff val="5000"/>
                  </a:schemeClr>
                </a:solidFill>
                <a:latin typeface="Times New Roman" panose="02020603050405020304" pitchFamily="18" charset="0"/>
                <a:ea typeface="Montserrat Light" charset="0"/>
                <a:cs typeface="Times New Roman" panose="02020603050405020304" pitchFamily="18" charset="0"/>
              </a:rPr>
              <a:t>Jupyter</a:t>
            </a:r>
            <a:r>
              <a:rPr lang="en-US" sz="2400" dirty="0">
                <a:solidFill>
                  <a:schemeClr val="tx1">
                    <a:lumMod val="95000"/>
                    <a:lumOff val="5000"/>
                  </a:schemeClr>
                </a:solidFill>
                <a:latin typeface="Times New Roman" panose="02020603050405020304" pitchFamily="18" charset="0"/>
                <a:ea typeface="Montserrat Light" charset="0"/>
                <a:cs typeface="Times New Roman" panose="02020603050405020304" pitchFamily="18" charset="0"/>
              </a:rPr>
              <a:t> Notebook</a:t>
            </a:r>
          </a:p>
          <a:p>
            <a:endParaRPr lang="en-US" sz="2400" dirty="0">
              <a:solidFill>
                <a:schemeClr val="tx1">
                  <a:lumMod val="95000"/>
                  <a:lumOff val="5000"/>
                </a:schemeClr>
              </a:solidFill>
              <a:latin typeface="Times New Roman" panose="02020603050405020304" pitchFamily="18" charset="0"/>
              <a:ea typeface="Montserrat Light" charset="0"/>
              <a:cs typeface="Times New Roman" panose="02020603050405020304" pitchFamily="18" charset="0"/>
            </a:endParaRPr>
          </a:p>
          <a:p>
            <a:pPr marL="342900" indent="-342900">
              <a:buFont typeface="Wingdings" panose="05000000000000000000" pitchFamily="2" charset="2"/>
              <a:buChar char="§"/>
            </a:pPr>
            <a:r>
              <a:rPr lang="en-US" sz="2400" b="1" dirty="0">
                <a:solidFill>
                  <a:schemeClr val="bg2">
                    <a:lumMod val="10000"/>
                  </a:schemeClr>
                </a:solidFill>
                <a:latin typeface="Times New Roman" panose="02020603050405020304" pitchFamily="18" charset="0"/>
                <a:ea typeface="Montserrat Light" charset="0"/>
                <a:cs typeface="Times New Roman" panose="02020603050405020304" pitchFamily="18" charset="0"/>
              </a:rPr>
              <a:t>Storage Space</a:t>
            </a:r>
            <a:r>
              <a:rPr lang="en-US" sz="2400" b="1" dirty="0">
                <a:solidFill>
                  <a:schemeClr val="tx1">
                    <a:lumMod val="95000"/>
                    <a:lumOff val="5000"/>
                  </a:schemeClr>
                </a:solidFill>
                <a:latin typeface="Times New Roman" panose="02020603050405020304" pitchFamily="18" charset="0"/>
                <a:ea typeface="Montserrat Light" charset="0"/>
                <a:cs typeface="Times New Roman" panose="02020603050405020304" pitchFamily="18" charset="0"/>
              </a:rPr>
              <a:t> </a:t>
            </a:r>
            <a:r>
              <a:rPr lang="en-US" sz="2400" dirty="0">
                <a:solidFill>
                  <a:schemeClr val="tx1">
                    <a:lumMod val="95000"/>
                    <a:lumOff val="5000"/>
                  </a:schemeClr>
                </a:solidFill>
                <a:latin typeface="Times New Roman" panose="02020603050405020304" pitchFamily="18" charset="0"/>
                <a:ea typeface="Montserrat Light" charset="0"/>
                <a:cs typeface="Times New Roman" panose="02020603050405020304" pitchFamily="18" charset="0"/>
              </a:rPr>
              <a:t>– free storage space enough for running on machine</a:t>
            </a:r>
          </a:p>
          <a:p>
            <a:endParaRPr lang="en-US" sz="2400" dirty="0">
              <a:solidFill>
                <a:schemeClr val="tx1">
                  <a:lumMod val="95000"/>
                  <a:lumOff val="5000"/>
                </a:schemeClr>
              </a:solidFill>
              <a:latin typeface="Times New Roman" panose="02020603050405020304" pitchFamily="18" charset="0"/>
              <a:ea typeface="Montserrat Light" charset="0"/>
              <a:cs typeface="Times New Roman" panose="02020603050405020304" pitchFamily="18" charset="0"/>
            </a:endParaRPr>
          </a:p>
          <a:p>
            <a:pPr marL="342900" indent="-342900">
              <a:buFont typeface="Wingdings" panose="05000000000000000000" pitchFamily="2" charset="2"/>
              <a:buChar char="§"/>
            </a:pPr>
            <a:r>
              <a:rPr lang="en-US" sz="2400" b="1" dirty="0">
                <a:solidFill>
                  <a:schemeClr val="tx1">
                    <a:lumMod val="95000"/>
                    <a:lumOff val="5000"/>
                  </a:schemeClr>
                </a:solidFill>
                <a:latin typeface="Times New Roman" panose="02020603050405020304" pitchFamily="18" charset="0"/>
                <a:ea typeface="Montserrat Light" charset="0"/>
                <a:cs typeface="Times New Roman" panose="02020603050405020304" pitchFamily="18" charset="0"/>
              </a:rPr>
              <a:t>RAM</a:t>
            </a:r>
            <a:r>
              <a:rPr lang="en-US" sz="2400" dirty="0">
                <a:solidFill>
                  <a:schemeClr val="tx1">
                    <a:lumMod val="95000"/>
                    <a:lumOff val="5000"/>
                  </a:schemeClr>
                </a:solidFill>
                <a:latin typeface="Times New Roman" panose="02020603050405020304" pitchFamily="18" charset="0"/>
                <a:ea typeface="Montserrat Light" charset="0"/>
                <a:cs typeface="Times New Roman" panose="02020603050405020304" pitchFamily="18" charset="0"/>
              </a:rPr>
              <a:t> – Minimum 4 GB (8 GB recommended for smoother performance)</a:t>
            </a:r>
          </a:p>
        </p:txBody>
      </p:sp>
    </p:spTree>
    <p:extLst>
      <p:ext uri="{BB962C8B-B14F-4D97-AF65-F5344CB8AC3E}">
        <p14:creationId xmlns:p14="http://schemas.microsoft.com/office/powerpoint/2010/main" val="3850129667"/>
      </p:ext>
    </p:extLst>
  </p:cSld>
  <p:clrMapOvr>
    <a:masterClrMapping/>
  </p:clrMapOvr>
  <p:transition spd="slow">
    <p:wip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C467FF-986F-D051-D484-D30B1D2FCC42}"/>
              </a:ext>
            </a:extLst>
          </p:cNvPr>
          <p:cNvSpPr>
            <a:spLocks noGrp="1"/>
          </p:cNvSpPr>
          <p:nvPr>
            <p:ph type="title"/>
          </p:nvPr>
        </p:nvSpPr>
        <p:spPr>
          <a:xfrm>
            <a:off x="1039443" y="1024957"/>
            <a:ext cx="8911687" cy="1280890"/>
          </a:xfrm>
        </p:spPr>
        <p:txBody>
          <a:bodyPr/>
          <a:lstStyle/>
          <a:p>
            <a:r>
              <a:rPr lang="en-IN" sz="4000" dirty="0">
                <a:latin typeface="Times New Roman" panose="02020603050405020304" pitchFamily="18" charset="0"/>
                <a:cs typeface="Times New Roman" panose="02020603050405020304" pitchFamily="18" charset="0"/>
              </a:rPr>
              <a:t>ARCHITECTURE</a:t>
            </a:r>
            <a:br>
              <a:rPr lang="en-IN" dirty="0"/>
            </a:br>
            <a:endParaRPr lang="en-IN" dirty="0"/>
          </a:p>
        </p:txBody>
      </p:sp>
      <p:sp>
        <p:nvSpPr>
          <p:cNvPr id="3" name="TextBox 2">
            <a:extLst>
              <a:ext uri="{FF2B5EF4-FFF2-40B4-BE49-F238E27FC236}">
                <a16:creationId xmlns:a16="http://schemas.microsoft.com/office/drawing/2014/main" id="{6432424C-1D17-9B41-E350-EEE7E4892FAE}"/>
              </a:ext>
            </a:extLst>
          </p:cNvPr>
          <p:cNvSpPr txBox="1"/>
          <p:nvPr/>
        </p:nvSpPr>
        <p:spPr>
          <a:xfrm>
            <a:off x="2559730" y="2079171"/>
            <a:ext cx="7391400" cy="3477875"/>
          </a:xfrm>
          <a:prstGeom prst="rect">
            <a:avLst/>
          </a:prstGeom>
          <a:noFill/>
        </p:spPr>
        <p:txBody>
          <a:bodyPr wrap="square" rtlCol="0">
            <a:spAutoFit/>
          </a:bodyPr>
          <a:lstStyle/>
          <a:p>
            <a:pPr marL="571500" indent="-571500">
              <a:buFont typeface="Arial" panose="020B0604020202020204" pitchFamily="34" charset="0"/>
              <a:buChar char="•"/>
            </a:pPr>
            <a:r>
              <a:rPr lang="en-US" sz="2000" dirty="0">
                <a:solidFill>
                  <a:schemeClr val="tx1">
                    <a:lumMod val="95000"/>
                    <a:lumOff val="5000"/>
                  </a:schemeClr>
                </a:solidFill>
                <a:latin typeface="Times New Roman" panose="02020603050405020304" pitchFamily="18" charset="0"/>
                <a:ea typeface="Montserrat Light" charset="0"/>
                <a:cs typeface="Times New Roman" panose="02020603050405020304" pitchFamily="18" charset="0"/>
              </a:rPr>
              <a:t>The process typically includes data acquisition, data          preprocessing, data visualization.</a:t>
            </a:r>
          </a:p>
          <a:p>
            <a:endParaRPr lang="en-US" sz="2000" dirty="0">
              <a:solidFill>
                <a:schemeClr val="tx1">
                  <a:lumMod val="95000"/>
                  <a:lumOff val="5000"/>
                </a:schemeClr>
              </a:solidFill>
              <a:latin typeface="Times New Roman" panose="02020603050405020304" pitchFamily="18" charset="0"/>
              <a:ea typeface="Montserrat Light" charset="0"/>
              <a:cs typeface="Times New Roman" panose="02020603050405020304" pitchFamily="18" charset="0"/>
            </a:endParaRPr>
          </a:p>
          <a:p>
            <a:r>
              <a:rPr lang="en-US" sz="2000" dirty="0">
                <a:solidFill>
                  <a:schemeClr val="tx1">
                    <a:lumMod val="95000"/>
                    <a:lumOff val="5000"/>
                  </a:schemeClr>
                </a:solidFill>
                <a:latin typeface="Times New Roman" panose="02020603050405020304" pitchFamily="18" charset="0"/>
                <a:ea typeface="Montserrat Light" charset="0"/>
                <a:cs typeface="Times New Roman" panose="02020603050405020304" pitchFamily="18" charset="0"/>
              </a:rPr>
              <a:t>Let's explore the architecture in more detail:</a:t>
            </a:r>
          </a:p>
          <a:p>
            <a:endParaRPr lang="en-US" sz="2000" dirty="0">
              <a:solidFill>
                <a:schemeClr val="tx1">
                  <a:lumMod val="95000"/>
                  <a:lumOff val="5000"/>
                </a:schemeClr>
              </a:solidFill>
              <a:latin typeface="Times New Roman" panose="02020603050405020304" pitchFamily="18" charset="0"/>
              <a:ea typeface="Montserrat Light" charset="0"/>
              <a:cs typeface="Times New Roman" panose="02020603050405020304" pitchFamily="18" charset="0"/>
            </a:endParaRPr>
          </a:p>
          <a:p>
            <a:pPr marL="2171700" lvl="4" indent="-342900">
              <a:buFont typeface="Wingdings" panose="05000000000000000000" pitchFamily="2" charset="2"/>
              <a:buChar char="§"/>
            </a:pPr>
            <a:r>
              <a:rPr lang="en-US" sz="2000" dirty="0">
                <a:solidFill>
                  <a:schemeClr val="tx1">
                    <a:lumMod val="95000"/>
                    <a:lumOff val="5000"/>
                  </a:schemeClr>
                </a:solidFill>
                <a:latin typeface="Times New Roman" panose="02020603050405020304" pitchFamily="18" charset="0"/>
                <a:ea typeface="Montserrat Light" charset="0"/>
                <a:cs typeface="Times New Roman" panose="02020603050405020304" pitchFamily="18" charset="0"/>
              </a:rPr>
              <a:t>Data collection</a:t>
            </a:r>
          </a:p>
          <a:p>
            <a:pPr marL="2171700" lvl="4" indent="-342900">
              <a:buFont typeface="Wingdings" panose="05000000000000000000" pitchFamily="2" charset="2"/>
              <a:buChar char="§"/>
            </a:pPr>
            <a:r>
              <a:rPr lang="en-US" sz="2000" dirty="0">
                <a:solidFill>
                  <a:schemeClr val="tx1">
                    <a:lumMod val="95000"/>
                    <a:lumOff val="5000"/>
                  </a:schemeClr>
                </a:solidFill>
                <a:latin typeface="Times New Roman" panose="02020603050405020304" pitchFamily="18" charset="0"/>
                <a:ea typeface="Montserrat Light" charset="0"/>
                <a:cs typeface="Times New Roman" panose="02020603050405020304" pitchFamily="18" charset="0"/>
              </a:rPr>
              <a:t>Importing libraries</a:t>
            </a:r>
          </a:p>
          <a:p>
            <a:pPr marL="2171700" lvl="4" indent="-342900">
              <a:buFont typeface="Wingdings" panose="05000000000000000000" pitchFamily="2" charset="2"/>
              <a:buChar char="§"/>
            </a:pPr>
            <a:r>
              <a:rPr lang="en-US" sz="2000" dirty="0">
                <a:solidFill>
                  <a:schemeClr val="tx1">
                    <a:lumMod val="95000"/>
                    <a:lumOff val="5000"/>
                  </a:schemeClr>
                </a:solidFill>
                <a:latin typeface="Times New Roman" panose="02020603050405020304" pitchFamily="18" charset="0"/>
                <a:ea typeface="Montserrat Light" charset="0"/>
                <a:cs typeface="Times New Roman" panose="02020603050405020304" pitchFamily="18" charset="0"/>
              </a:rPr>
              <a:t>Loading data</a:t>
            </a:r>
          </a:p>
          <a:p>
            <a:pPr marL="2171700" lvl="4" indent="-342900">
              <a:buFont typeface="Wingdings" panose="05000000000000000000" pitchFamily="2" charset="2"/>
              <a:buChar char="§"/>
            </a:pPr>
            <a:r>
              <a:rPr lang="en-US" sz="2000" dirty="0">
                <a:solidFill>
                  <a:schemeClr val="tx1">
                    <a:lumMod val="95000"/>
                    <a:lumOff val="5000"/>
                  </a:schemeClr>
                </a:solidFill>
                <a:latin typeface="Times New Roman" panose="02020603050405020304" pitchFamily="18" charset="0"/>
                <a:ea typeface="Montserrat Light" charset="0"/>
                <a:cs typeface="Times New Roman" panose="02020603050405020304" pitchFamily="18" charset="0"/>
              </a:rPr>
              <a:t>Data exploration</a:t>
            </a:r>
          </a:p>
          <a:p>
            <a:pPr marL="2171700" lvl="4" indent="-342900">
              <a:buFont typeface="Wingdings" panose="05000000000000000000" pitchFamily="2" charset="2"/>
              <a:buChar char="§"/>
            </a:pPr>
            <a:r>
              <a:rPr lang="en-US" sz="2000" dirty="0">
                <a:solidFill>
                  <a:schemeClr val="tx1">
                    <a:lumMod val="95000"/>
                    <a:lumOff val="5000"/>
                  </a:schemeClr>
                </a:solidFill>
                <a:latin typeface="Times New Roman" panose="02020603050405020304" pitchFamily="18" charset="0"/>
                <a:ea typeface="Montserrat Light" charset="0"/>
                <a:cs typeface="Times New Roman" panose="02020603050405020304" pitchFamily="18" charset="0"/>
              </a:rPr>
              <a:t>Data visualization</a:t>
            </a:r>
          </a:p>
          <a:p>
            <a:pPr marL="2171700" lvl="4" indent="-342900">
              <a:buFont typeface="Wingdings" panose="05000000000000000000" pitchFamily="2" charset="2"/>
              <a:buChar char="§"/>
            </a:pPr>
            <a:r>
              <a:rPr lang="en-US" sz="2000" dirty="0">
                <a:solidFill>
                  <a:schemeClr val="tx1">
                    <a:lumMod val="95000"/>
                    <a:lumOff val="5000"/>
                  </a:schemeClr>
                </a:solidFill>
                <a:latin typeface="Times New Roman" panose="02020603050405020304" pitchFamily="18" charset="0"/>
                <a:ea typeface="Montserrat Light" charset="0"/>
                <a:cs typeface="Times New Roman" panose="02020603050405020304" pitchFamily="18" charset="0"/>
              </a:rPr>
              <a:t>Training the model</a:t>
            </a:r>
          </a:p>
        </p:txBody>
      </p:sp>
    </p:spTree>
    <p:extLst>
      <p:ext uri="{BB962C8B-B14F-4D97-AF65-F5344CB8AC3E}">
        <p14:creationId xmlns:p14="http://schemas.microsoft.com/office/powerpoint/2010/main" val="3556555779"/>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EF1D4A-A860-C94B-5AAE-4931E639C452}"/>
              </a:ext>
            </a:extLst>
          </p:cNvPr>
          <p:cNvSpPr>
            <a:spLocks noGrp="1"/>
          </p:cNvSpPr>
          <p:nvPr>
            <p:ph type="title"/>
          </p:nvPr>
        </p:nvSpPr>
        <p:spPr>
          <a:xfrm>
            <a:off x="1918010" y="776510"/>
            <a:ext cx="8911687" cy="1280890"/>
          </a:xfrm>
        </p:spPr>
        <p:txBody>
          <a:bodyPr/>
          <a:lstStyle/>
          <a:p>
            <a:r>
              <a:rPr lang="en-US" sz="3200" dirty="0">
                <a:solidFill>
                  <a:schemeClr val="tx1">
                    <a:lumMod val="95000"/>
                    <a:lumOff val="5000"/>
                  </a:schemeClr>
                </a:solidFill>
                <a:latin typeface="Times New Roman" panose="02020603050405020304" pitchFamily="18" charset="0"/>
                <a:ea typeface="Montserrat Light" charset="0"/>
                <a:cs typeface="Times New Roman" panose="02020603050405020304" pitchFamily="18" charset="0"/>
              </a:rPr>
              <a:t>IMPORTING DATASET</a:t>
            </a:r>
            <a:br>
              <a:rPr lang="en-US" dirty="0">
                <a:solidFill>
                  <a:schemeClr val="tx1">
                    <a:lumMod val="95000"/>
                    <a:lumOff val="5000"/>
                  </a:schemeClr>
                </a:solidFill>
                <a:latin typeface="Times New Roman" panose="02020603050405020304" pitchFamily="18" charset="0"/>
                <a:ea typeface="Montserrat Light" charset="0"/>
                <a:cs typeface="Times New Roman" panose="02020603050405020304" pitchFamily="18" charset="0"/>
              </a:rPr>
            </a:br>
            <a:endParaRPr lang="en-IN" dirty="0"/>
          </a:p>
        </p:txBody>
      </p:sp>
      <p:sp>
        <p:nvSpPr>
          <p:cNvPr id="3" name="TextBox 2">
            <a:extLst>
              <a:ext uri="{FF2B5EF4-FFF2-40B4-BE49-F238E27FC236}">
                <a16:creationId xmlns:a16="http://schemas.microsoft.com/office/drawing/2014/main" id="{8BC0C40D-6788-53F7-F7CD-0F316962EE90}"/>
              </a:ext>
            </a:extLst>
          </p:cNvPr>
          <p:cNvSpPr txBox="1"/>
          <p:nvPr/>
        </p:nvSpPr>
        <p:spPr>
          <a:xfrm>
            <a:off x="2460171" y="1905000"/>
            <a:ext cx="8828315" cy="1015663"/>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Importing a dataset means loading external data (usually stored in files like CSV, Excel, JSON, etc.) into your program or environment, so it can be used for analysis, processing, and training models.</a:t>
            </a:r>
            <a:endParaRPr lang="en-IN" sz="20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287A3045-63F5-19B0-DB14-7927B125A174}"/>
              </a:ext>
            </a:extLst>
          </p:cNvPr>
          <p:cNvPicPr>
            <a:picLocks noChangeAspect="1"/>
          </p:cNvPicPr>
          <p:nvPr/>
        </p:nvPicPr>
        <p:blipFill>
          <a:blip r:embed="rId2"/>
          <a:stretch>
            <a:fillRect/>
          </a:stretch>
        </p:blipFill>
        <p:spPr>
          <a:xfrm>
            <a:off x="1918010" y="3241549"/>
            <a:ext cx="9492657" cy="3118104"/>
          </a:xfrm>
          <a:prstGeom prst="rect">
            <a:avLst/>
          </a:prstGeom>
        </p:spPr>
      </p:pic>
    </p:spTree>
    <p:extLst>
      <p:ext uri="{BB962C8B-B14F-4D97-AF65-F5344CB8AC3E}">
        <p14:creationId xmlns:p14="http://schemas.microsoft.com/office/powerpoint/2010/main" val="3709585901"/>
      </p:ext>
    </p:extLst>
  </p:cSld>
  <p:clrMapOvr>
    <a:masterClrMapping/>
  </p:clrMapOvr>
  <p:transition spd="slow">
    <p:push dir="u"/>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278F5B-33ED-9DDD-76FF-0F4DBE8DA412}"/>
              </a:ext>
            </a:extLst>
          </p:cNvPr>
          <p:cNvSpPr>
            <a:spLocks noGrp="1"/>
          </p:cNvSpPr>
          <p:nvPr>
            <p:ph type="title"/>
          </p:nvPr>
        </p:nvSpPr>
        <p:spPr>
          <a:xfrm>
            <a:off x="1640156" y="578450"/>
            <a:ext cx="8911687" cy="1280890"/>
          </a:xfrm>
        </p:spPr>
        <p:txBody>
          <a:bodyPr>
            <a:normAutofit/>
          </a:bodyPr>
          <a:lstStyle/>
          <a:p>
            <a:r>
              <a:rPr lang="en-IN" sz="4000" dirty="0">
                <a:latin typeface="Times New Roman" panose="02020603050405020304" pitchFamily="18" charset="0"/>
                <a:cs typeface="Times New Roman" panose="02020603050405020304" pitchFamily="18" charset="0"/>
              </a:rPr>
              <a:t>Data cleaning and analysis</a:t>
            </a:r>
          </a:p>
        </p:txBody>
      </p:sp>
      <p:sp>
        <p:nvSpPr>
          <p:cNvPr id="4" name="TextBox 3">
            <a:extLst>
              <a:ext uri="{FF2B5EF4-FFF2-40B4-BE49-F238E27FC236}">
                <a16:creationId xmlns:a16="http://schemas.microsoft.com/office/drawing/2014/main" id="{9E90CB16-D040-9737-4082-3B72BD859A81}"/>
              </a:ext>
            </a:extLst>
          </p:cNvPr>
          <p:cNvSpPr txBox="1"/>
          <p:nvPr/>
        </p:nvSpPr>
        <p:spPr>
          <a:xfrm>
            <a:off x="2101815" y="1515986"/>
            <a:ext cx="8991598" cy="1569660"/>
          </a:xfrm>
          <a:prstGeom prst="rect">
            <a:avLst/>
          </a:prstGeom>
          <a:noFill/>
        </p:spPr>
        <p:txBody>
          <a:bodyPr wrap="square">
            <a:spAutoFit/>
          </a:bodyPr>
          <a:lstStyle/>
          <a:p>
            <a:r>
              <a:rPr lang="en-US" sz="2400" dirty="0">
                <a:latin typeface="Times New Roman" panose="02020603050405020304" pitchFamily="18" charset="0"/>
                <a:cs typeface="Times New Roman" panose="02020603050405020304" pitchFamily="18" charset="0"/>
              </a:rPr>
              <a:t>Data cleaning is the process of detecting and correcting (or removing) corrupt, inaccurate, inconsistent, missing, or duplicate data within your dataset—transforming raw data into a reliable form for analysis and modeling </a:t>
            </a:r>
            <a:endParaRPr lang="en-IN" sz="24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4CECF04D-610A-1354-7ABA-ADD726EA49FB}"/>
              </a:ext>
            </a:extLst>
          </p:cNvPr>
          <p:cNvPicPr>
            <a:picLocks noChangeAspect="1"/>
          </p:cNvPicPr>
          <p:nvPr/>
        </p:nvPicPr>
        <p:blipFill>
          <a:blip r:embed="rId2"/>
          <a:stretch>
            <a:fillRect/>
          </a:stretch>
        </p:blipFill>
        <p:spPr>
          <a:xfrm>
            <a:off x="2223419" y="3265459"/>
            <a:ext cx="6536533" cy="1314633"/>
          </a:xfrm>
          <a:prstGeom prst="rect">
            <a:avLst/>
          </a:prstGeom>
        </p:spPr>
      </p:pic>
      <p:pic>
        <p:nvPicPr>
          <p:cNvPr id="9" name="Picture 8">
            <a:extLst>
              <a:ext uri="{FF2B5EF4-FFF2-40B4-BE49-F238E27FC236}">
                <a16:creationId xmlns:a16="http://schemas.microsoft.com/office/drawing/2014/main" id="{5094BD49-9BC4-5AC9-B307-9987AC224CE0}"/>
              </a:ext>
            </a:extLst>
          </p:cNvPr>
          <p:cNvPicPr>
            <a:picLocks noChangeAspect="1"/>
          </p:cNvPicPr>
          <p:nvPr/>
        </p:nvPicPr>
        <p:blipFill>
          <a:blip r:embed="rId3"/>
          <a:stretch>
            <a:fillRect/>
          </a:stretch>
        </p:blipFill>
        <p:spPr>
          <a:xfrm>
            <a:off x="2223419" y="4939718"/>
            <a:ext cx="6611273" cy="695422"/>
          </a:xfrm>
          <a:prstGeom prst="rect">
            <a:avLst/>
          </a:prstGeom>
        </p:spPr>
      </p:pic>
    </p:spTree>
    <p:extLst>
      <p:ext uri="{BB962C8B-B14F-4D97-AF65-F5344CB8AC3E}">
        <p14:creationId xmlns:p14="http://schemas.microsoft.com/office/powerpoint/2010/main" val="2476215042"/>
      </p:ext>
    </p:extLst>
  </p:cSld>
  <p:clrMapOvr>
    <a:masterClrMapping/>
  </p:clrMapOvr>
  <p:transition spd="slow">
    <p:push dir="u"/>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3135DDC-3CB1-A965-4775-698A03C98D02}"/>
              </a:ext>
            </a:extLst>
          </p:cNvPr>
          <p:cNvPicPr>
            <a:picLocks noChangeAspect="1"/>
          </p:cNvPicPr>
          <p:nvPr/>
        </p:nvPicPr>
        <p:blipFill>
          <a:blip r:embed="rId2"/>
          <a:stretch>
            <a:fillRect/>
          </a:stretch>
        </p:blipFill>
        <p:spPr>
          <a:xfrm>
            <a:off x="513795" y="3031386"/>
            <a:ext cx="5704126" cy="3667637"/>
          </a:xfrm>
          <a:prstGeom prst="rect">
            <a:avLst/>
          </a:prstGeom>
        </p:spPr>
      </p:pic>
      <p:pic>
        <p:nvPicPr>
          <p:cNvPr id="7" name="Picture 6">
            <a:extLst>
              <a:ext uri="{FF2B5EF4-FFF2-40B4-BE49-F238E27FC236}">
                <a16:creationId xmlns:a16="http://schemas.microsoft.com/office/drawing/2014/main" id="{A6D301EB-2E30-9E7D-E5D8-4932B2E6D511}"/>
              </a:ext>
            </a:extLst>
          </p:cNvPr>
          <p:cNvPicPr>
            <a:picLocks noChangeAspect="1"/>
          </p:cNvPicPr>
          <p:nvPr/>
        </p:nvPicPr>
        <p:blipFill>
          <a:blip r:embed="rId3"/>
          <a:stretch>
            <a:fillRect/>
          </a:stretch>
        </p:blipFill>
        <p:spPr>
          <a:xfrm>
            <a:off x="1382508" y="1163900"/>
            <a:ext cx="4168805" cy="1195252"/>
          </a:xfrm>
          <a:prstGeom prst="rect">
            <a:avLst/>
          </a:prstGeom>
        </p:spPr>
      </p:pic>
      <p:pic>
        <p:nvPicPr>
          <p:cNvPr id="10" name="Picture 9">
            <a:extLst>
              <a:ext uri="{FF2B5EF4-FFF2-40B4-BE49-F238E27FC236}">
                <a16:creationId xmlns:a16="http://schemas.microsoft.com/office/drawing/2014/main" id="{F7D98BA4-9CD0-5166-D1A0-5BDBCBA372A5}"/>
              </a:ext>
            </a:extLst>
          </p:cNvPr>
          <p:cNvPicPr>
            <a:picLocks noChangeAspect="1"/>
          </p:cNvPicPr>
          <p:nvPr/>
        </p:nvPicPr>
        <p:blipFill>
          <a:blip r:embed="rId4"/>
          <a:stretch>
            <a:fillRect/>
          </a:stretch>
        </p:blipFill>
        <p:spPr>
          <a:xfrm>
            <a:off x="6726378" y="2526786"/>
            <a:ext cx="5268060" cy="2810267"/>
          </a:xfrm>
          <a:prstGeom prst="rect">
            <a:avLst/>
          </a:prstGeom>
        </p:spPr>
      </p:pic>
    </p:spTree>
    <p:extLst>
      <p:ext uri="{BB962C8B-B14F-4D97-AF65-F5344CB8AC3E}">
        <p14:creationId xmlns:p14="http://schemas.microsoft.com/office/powerpoint/2010/main" val="3851981714"/>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FE1501C-35CE-744E-5636-FA8D6DC11DBB}"/>
              </a:ext>
            </a:extLst>
          </p:cNvPr>
          <p:cNvPicPr>
            <a:picLocks noChangeAspect="1"/>
          </p:cNvPicPr>
          <p:nvPr/>
        </p:nvPicPr>
        <p:blipFill>
          <a:blip r:embed="rId2"/>
          <a:stretch>
            <a:fillRect/>
          </a:stretch>
        </p:blipFill>
        <p:spPr>
          <a:xfrm>
            <a:off x="904150" y="1299865"/>
            <a:ext cx="10383699" cy="4258269"/>
          </a:xfrm>
          <a:prstGeom prst="rect">
            <a:avLst/>
          </a:prstGeom>
        </p:spPr>
      </p:pic>
    </p:spTree>
    <p:extLst>
      <p:ext uri="{BB962C8B-B14F-4D97-AF65-F5344CB8AC3E}">
        <p14:creationId xmlns:p14="http://schemas.microsoft.com/office/powerpoint/2010/main" val="2996083331"/>
      </p:ext>
    </p:extLst>
  </p:cSld>
  <p:clrMapOvr>
    <a:masterClrMapping/>
  </p:clrMapOvr>
  <p:transition spd="slow">
    <p:wip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D052F5-40AB-F999-965A-274CF67FCAC4}"/>
              </a:ext>
            </a:extLst>
          </p:cNvPr>
          <p:cNvSpPr>
            <a:spLocks noGrp="1"/>
          </p:cNvSpPr>
          <p:nvPr>
            <p:ph type="title"/>
          </p:nvPr>
        </p:nvSpPr>
        <p:spPr>
          <a:xfrm>
            <a:off x="1918010" y="656767"/>
            <a:ext cx="8911687" cy="1280890"/>
          </a:xfrm>
        </p:spPr>
        <p:txBody>
          <a:bodyPr/>
          <a:lstStyle/>
          <a:p>
            <a:r>
              <a:rPr lang="en-IN" dirty="0">
                <a:latin typeface="Times New Roman" panose="02020603050405020304" pitchFamily="18" charset="0"/>
                <a:cs typeface="Times New Roman" panose="02020603050405020304" pitchFamily="18" charset="0"/>
              </a:rPr>
              <a:t>DATA EXPLORATION:</a:t>
            </a:r>
            <a:br>
              <a:rPr lang="en-IN" dirty="0"/>
            </a:br>
            <a:endParaRPr lang="en-IN" dirty="0"/>
          </a:p>
        </p:txBody>
      </p:sp>
      <p:sp>
        <p:nvSpPr>
          <p:cNvPr id="3" name="TextBox 2">
            <a:extLst>
              <a:ext uri="{FF2B5EF4-FFF2-40B4-BE49-F238E27FC236}">
                <a16:creationId xmlns:a16="http://schemas.microsoft.com/office/drawing/2014/main" id="{C824E281-6577-9B81-C006-888ED3082034}"/>
              </a:ext>
            </a:extLst>
          </p:cNvPr>
          <p:cNvSpPr txBox="1"/>
          <p:nvPr/>
        </p:nvSpPr>
        <p:spPr>
          <a:xfrm>
            <a:off x="2612572" y="1741715"/>
            <a:ext cx="8643257" cy="1421992"/>
          </a:xfrm>
          <a:prstGeom prst="rect">
            <a:avLst/>
          </a:prstGeom>
          <a:noFill/>
        </p:spPr>
        <p:txBody>
          <a:bodyPr wrap="square" rtlCol="0">
            <a:spAutoFit/>
          </a:bodyPr>
          <a:lstStyle/>
          <a:p>
            <a:pPr>
              <a:lnSpc>
                <a:spcPct val="150000"/>
              </a:lnSpc>
            </a:pPr>
            <a:r>
              <a:rPr lang="en-US" sz="2000" dirty="0">
                <a:latin typeface="Times New Roman" panose="02020603050405020304" pitchFamily="18" charset="0"/>
                <a:cs typeface="Times New Roman" panose="02020603050405020304" pitchFamily="18" charset="0"/>
              </a:rPr>
              <a:t>Data Exploration is the process of examining and understanding the main characteristics of a dataset using summary statistics and visualization tools before performing any modeling or analysis</a:t>
            </a:r>
            <a:endParaRPr lang="en-IN" sz="2000"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18AC2E18-6FCE-874F-7C9F-C07727B87E3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83429" y="3611959"/>
            <a:ext cx="4876800" cy="2277212"/>
          </a:xfrm>
          <a:prstGeom prst="rect">
            <a:avLst/>
          </a:prstGeom>
        </p:spPr>
      </p:pic>
    </p:spTree>
    <p:extLst>
      <p:ext uri="{BB962C8B-B14F-4D97-AF65-F5344CB8AC3E}">
        <p14:creationId xmlns:p14="http://schemas.microsoft.com/office/powerpoint/2010/main" val="1448401299"/>
      </p:ext>
    </p:extLst>
  </p:cSld>
  <p:clrMapOvr>
    <a:masterClrMapping/>
  </p:clrMapOvr>
  <p:transition spd="slow">
    <p:push dir="u"/>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EBB809-F0E9-8EE7-9ED8-9A73A6D12735}"/>
              </a:ext>
            </a:extLst>
          </p:cNvPr>
          <p:cNvSpPr>
            <a:spLocks noGrp="1"/>
          </p:cNvSpPr>
          <p:nvPr>
            <p:ph type="title"/>
          </p:nvPr>
        </p:nvSpPr>
        <p:spPr>
          <a:xfrm>
            <a:off x="1939782" y="591453"/>
            <a:ext cx="8911687" cy="1280890"/>
          </a:xfrm>
        </p:spPr>
        <p:txBody>
          <a:bodyPr/>
          <a:lstStyle/>
          <a:p>
            <a:r>
              <a:rPr lang="en-US" sz="4000" dirty="0">
                <a:solidFill>
                  <a:schemeClr val="tx1">
                    <a:lumMod val="95000"/>
                    <a:lumOff val="5000"/>
                  </a:schemeClr>
                </a:solidFill>
                <a:latin typeface="Times New Roman" panose="02020603050405020304" pitchFamily="18" charset="0"/>
                <a:ea typeface="Montserrat Light" charset="0"/>
                <a:cs typeface="Times New Roman" panose="02020603050405020304" pitchFamily="18" charset="0"/>
              </a:rPr>
              <a:t>Data visualization</a:t>
            </a:r>
            <a:br>
              <a:rPr lang="en-US" dirty="0">
                <a:solidFill>
                  <a:schemeClr val="tx1">
                    <a:lumMod val="95000"/>
                    <a:lumOff val="5000"/>
                  </a:schemeClr>
                </a:solidFill>
                <a:latin typeface="Times New Roman" panose="02020603050405020304" pitchFamily="18" charset="0"/>
                <a:ea typeface="Montserrat Light" charset="0"/>
                <a:cs typeface="Times New Roman" panose="02020603050405020304" pitchFamily="18" charset="0"/>
              </a:rPr>
            </a:br>
            <a:endParaRPr lang="en-IN" dirty="0"/>
          </a:p>
        </p:txBody>
      </p:sp>
      <p:sp>
        <p:nvSpPr>
          <p:cNvPr id="4" name="TextBox 3">
            <a:extLst>
              <a:ext uri="{FF2B5EF4-FFF2-40B4-BE49-F238E27FC236}">
                <a16:creationId xmlns:a16="http://schemas.microsoft.com/office/drawing/2014/main" id="{58780336-D80C-E198-79D6-4E375F125205}"/>
              </a:ext>
            </a:extLst>
          </p:cNvPr>
          <p:cNvSpPr txBox="1"/>
          <p:nvPr/>
        </p:nvSpPr>
        <p:spPr>
          <a:xfrm>
            <a:off x="1443010" y="1705574"/>
            <a:ext cx="8088086" cy="1421992"/>
          </a:xfrm>
          <a:prstGeom prst="rect">
            <a:avLst/>
          </a:prstGeom>
          <a:noFill/>
        </p:spPr>
        <p:txBody>
          <a:bodyPr wrap="square" rtlCol="0">
            <a:spAutoFit/>
          </a:bodyPr>
          <a:lstStyle/>
          <a:p>
            <a:pPr>
              <a:lnSpc>
                <a:spcPct val="150000"/>
              </a:lnSpc>
            </a:pPr>
            <a:r>
              <a:rPr lang="en-US" sz="2000" dirty="0">
                <a:latin typeface="Times New Roman" panose="02020603050405020304" pitchFamily="18" charset="0"/>
                <a:cs typeface="Times New Roman" panose="02020603050405020304" pitchFamily="18" charset="0"/>
              </a:rPr>
              <a:t>Data Visualization is the graphical representation of information and data using visual elements like charts, graphs, and maps. It helps make complex data more accessible, understandable, and usable</a:t>
            </a:r>
            <a:endParaRPr lang="en-IN" sz="20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4886D92A-4877-0E67-F235-269A963B8186}"/>
              </a:ext>
            </a:extLst>
          </p:cNvPr>
          <p:cNvPicPr>
            <a:picLocks noChangeAspect="1"/>
          </p:cNvPicPr>
          <p:nvPr/>
        </p:nvPicPr>
        <p:blipFill>
          <a:blip r:embed="rId3"/>
          <a:stretch>
            <a:fillRect/>
          </a:stretch>
        </p:blipFill>
        <p:spPr>
          <a:xfrm>
            <a:off x="1370940" y="3246120"/>
            <a:ext cx="9601860" cy="2926080"/>
          </a:xfrm>
          <a:prstGeom prst="rect">
            <a:avLst/>
          </a:prstGeom>
        </p:spPr>
      </p:pic>
    </p:spTree>
    <p:extLst>
      <p:ext uri="{BB962C8B-B14F-4D97-AF65-F5344CB8AC3E}">
        <p14:creationId xmlns:p14="http://schemas.microsoft.com/office/powerpoint/2010/main" val="12025222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C68C18C-80AB-4AA8-54AF-FB9D0AA0C028}"/>
              </a:ext>
            </a:extLst>
          </p:cNvPr>
          <p:cNvPicPr>
            <a:picLocks noChangeAspect="1"/>
          </p:cNvPicPr>
          <p:nvPr/>
        </p:nvPicPr>
        <p:blipFill>
          <a:blip r:embed="rId2"/>
          <a:stretch>
            <a:fillRect/>
          </a:stretch>
        </p:blipFill>
        <p:spPr>
          <a:xfrm>
            <a:off x="1890721" y="1261872"/>
            <a:ext cx="9619750" cy="4937760"/>
          </a:xfrm>
          <a:prstGeom prst="rect">
            <a:avLst/>
          </a:prstGeom>
        </p:spPr>
      </p:pic>
    </p:spTree>
    <p:extLst>
      <p:ext uri="{BB962C8B-B14F-4D97-AF65-F5344CB8AC3E}">
        <p14:creationId xmlns:p14="http://schemas.microsoft.com/office/powerpoint/2010/main" val="2126987697"/>
      </p:ext>
    </p:extLst>
  </p:cSld>
  <p:clrMapOvr>
    <a:masterClrMapping/>
  </p:clrMapOvr>
  <p:transition spd="slow">
    <p:push dir="u"/>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2C624C-7A5A-471B-4297-BFEF92FC1085}"/>
              </a:ext>
            </a:extLst>
          </p:cNvPr>
          <p:cNvSpPr>
            <a:spLocks noGrp="1"/>
          </p:cNvSpPr>
          <p:nvPr>
            <p:ph type="title"/>
          </p:nvPr>
        </p:nvSpPr>
        <p:spPr>
          <a:xfrm flipV="1">
            <a:off x="1640156" y="-2596895"/>
            <a:ext cx="8911687" cy="1965960"/>
          </a:xfrm>
        </p:spPr>
        <p:txBody>
          <a:bodyPr/>
          <a:lstStyle/>
          <a:p>
            <a:endParaRPr lang="en-IN" dirty="0"/>
          </a:p>
        </p:txBody>
      </p:sp>
      <p:pic>
        <p:nvPicPr>
          <p:cNvPr id="4" name="Picture 3">
            <a:extLst>
              <a:ext uri="{FF2B5EF4-FFF2-40B4-BE49-F238E27FC236}">
                <a16:creationId xmlns:a16="http://schemas.microsoft.com/office/drawing/2014/main" id="{3C524A7B-2835-4B5E-5658-86BDB6B85D8F}"/>
              </a:ext>
            </a:extLst>
          </p:cNvPr>
          <p:cNvPicPr>
            <a:picLocks noChangeAspect="1"/>
          </p:cNvPicPr>
          <p:nvPr/>
        </p:nvPicPr>
        <p:blipFill>
          <a:blip r:embed="rId2"/>
          <a:stretch>
            <a:fillRect/>
          </a:stretch>
        </p:blipFill>
        <p:spPr>
          <a:xfrm>
            <a:off x="1915081" y="420063"/>
            <a:ext cx="8636762" cy="6017873"/>
          </a:xfrm>
          <a:prstGeom prst="rect">
            <a:avLst/>
          </a:prstGeom>
        </p:spPr>
      </p:pic>
    </p:spTree>
    <p:extLst>
      <p:ext uri="{BB962C8B-B14F-4D97-AF65-F5344CB8AC3E}">
        <p14:creationId xmlns:p14="http://schemas.microsoft.com/office/powerpoint/2010/main" val="18850547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CD56B31-B4CA-CCF4-4973-065949CD6E36}"/>
              </a:ext>
            </a:extLst>
          </p:cNvPr>
          <p:cNvPicPr>
            <a:picLocks noChangeAspect="1"/>
          </p:cNvPicPr>
          <p:nvPr/>
        </p:nvPicPr>
        <p:blipFill>
          <a:blip r:embed="rId2"/>
          <a:stretch>
            <a:fillRect/>
          </a:stretch>
        </p:blipFill>
        <p:spPr>
          <a:xfrm>
            <a:off x="1853796" y="251464"/>
            <a:ext cx="10079124" cy="6355071"/>
          </a:xfrm>
          <a:prstGeom prst="rect">
            <a:avLst/>
          </a:prstGeom>
        </p:spPr>
      </p:pic>
    </p:spTree>
    <p:extLst>
      <p:ext uri="{BB962C8B-B14F-4D97-AF65-F5344CB8AC3E}">
        <p14:creationId xmlns:p14="http://schemas.microsoft.com/office/powerpoint/2010/main" val="33895470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CF4F89EE-4334-BDF7-050C-D94EBF77E50C}"/>
              </a:ext>
            </a:extLst>
          </p:cNvPr>
          <p:cNvSpPr txBox="1"/>
          <p:nvPr/>
        </p:nvSpPr>
        <p:spPr>
          <a:xfrm>
            <a:off x="2623456" y="200050"/>
            <a:ext cx="6096000" cy="1200329"/>
          </a:xfrm>
          <a:prstGeom prst="rect">
            <a:avLst/>
          </a:prstGeom>
          <a:noFill/>
        </p:spPr>
        <p:txBody>
          <a:bodyPr wrap="square">
            <a:spAutoFit/>
          </a:bodyPr>
          <a:lstStyle/>
          <a:p>
            <a:pPr algn="ctr"/>
            <a:r>
              <a:rPr lang="en-US" sz="3600" dirty="0">
                <a:solidFill>
                  <a:schemeClr val="tx1">
                    <a:lumMod val="95000"/>
                    <a:lumOff val="5000"/>
                  </a:schemeClr>
                </a:solidFill>
                <a:latin typeface="Times New Roman" panose="02020603050405020304" pitchFamily="18" charset="0"/>
                <a:ea typeface="Montserrat" charset="0"/>
                <a:cs typeface="Times New Roman" panose="02020603050405020304" pitchFamily="18" charset="0"/>
              </a:rPr>
              <a:t>USES OF DATA ANALYSIS LIBRARY</a:t>
            </a:r>
          </a:p>
        </p:txBody>
      </p:sp>
      <p:sp>
        <p:nvSpPr>
          <p:cNvPr id="12" name="TextBox 11">
            <a:extLst>
              <a:ext uri="{FF2B5EF4-FFF2-40B4-BE49-F238E27FC236}">
                <a16:creationId xmlns:a16="http://schemas.microsoft.com/office/drawing/2014/main" id="{816BB19A-CAAB-E75A-392B-35B30F0B6FD6}"/>
              </a:ext>
            </a:extLst>
          </p:cNvPr>
          <p:cNvSpPr txBox="1"/>
          <p:nvPr/>
        </p:nvSpPr>
        <p:spPr>
          <a:xfrm>
            <a:off x="1436914" y="1797904"/>
            <a:ext cx="4778829" cy="2308324"/>
          </a:xfrm>
          <a:prstGeom prst="rect">
            <a:avLst/>
          </a:prstGeom>
          <a:noFill/>
        </p:spPr>
        <p:txBody>
          <a:bodyPr wrap="square">
            <a:spAutoFit/>
          </a:bodyPr>
          <a:lstStyle/>
          <a:p>
            <a:r>
              <a:rPr lang="en-US" sz="2400" b="1" dirty="0">
                <a:latin typeface="Times New Roman" panose="02020603050405020304" pitchFamily="18" charset="0"/>
                <a:cs typeface="Times New Roman" panose="02020603050405020304" pitchFamily="18" charset="0"/>
              </a:rPr>
              <a:t>1. Pandas</a:t>
            </a:r>
            <a:endParaRPr lang="en-US" sz="24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Used for loading and handling the SMS dataset (CSV or text format).</a:t>
            </a:r>
          </a:p>
          <a:p>
            <a:endParaRPr lang="en-US" sz="20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Allows easy data cleaning, manipulation, and exploration (e.g., checking for missing values, labeling columns).</a:t>
            </a:r>
          </a:p>
        </p:txBody>
      </p:sp>
      <p:sp>
        <p:nvSpPr>
          <p:cNvPr id="14" name="TextBox 13">
            <a:extLst>
              <a:ext uri="{FF2B5EF4-FFF2-40B4-BE49-F238E27FC236}">
                <a16:creationId xmlns:a16="http://schemas.microsoft.com/office/drawing/2014/main" id="{A922832E-858B-3903-036A-7CC949925015}"/>
              </a:ext>
            </a:extLst>
          </p:cNvPr>
          <p:cNvSpPr txBox="1"/>
          <p:nvPr/>
        </p:nvSpPr>
        <p:spPr>
          <a:xfrm>
            <a:off x="7032170" y="1916707"/>
            <a:ext cx="4463143" cy="2277547"/>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2. NumPy</a:t>
            </a:r>
            <a:endParaRPr lang="en-US" sz="24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Provides support for numerical operations such as array handling.</a:t>
            </a:r>
          </a:p>
          <a:p>
            <a:pPr marL="285750" indent="-285750">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used internally in many ML and NLP processes for fast computation.</a:t>
            </a:r>
          </a:p>
          <a:p>
            <a:endParaRPr lang="en-IN" dirty="0"/>
          </a:p>
        </p:txBody>
      </p:sp>
      <p:sp>
        <p:nvSpPr>
          <p:cNvPr id="16" name="TextBox 15">
            <a:extLst>
              <a:ext uri="{FF2B5EF4-FFF2-40B4-BE49-F238E27FC236}">
                <a16:creationId xmlns:a16="http://schemas.microsoft.com/office/drawing/2014/main" id="{A23C0526-A033-01FD-A5CF-5E624C343EB9}"/>
              </a:ext>
            </a:extLst>
          </p:cNvPr>
          <p:cNvSpPr txBox="1"/>
          <p:nvPr/>
        </p:nvSpPr>
        <p:spPr>
          <a:xfrm>
            <a:off x="1295394" y="4349626"/>
            <a:ext cx="5736776" cy="2308324"/>
          </a:xfrm>
          <a:prstGeom prst="rect">
            <a:avLst/>
          </a:prstGeom>
          <a:noFill/>
        </p:spPr>
        <p:txBody>
          <a:bodyPr wrap="square">
            <a:spAutoFit/>
          </a:bodyPr>
          <a:lstStyle/>
          <a:p>
            <a:pPr>
              <a:buNone/>
            </a:pPr>
            <a:r>
              <a:rPr lang="en-IN" sz="2400" b="1" dirty="0">
                <a:latin typeface="Times New Roman" panose="02020603050405020304" pitchFamily="18" charset="0"/>
                <a:cs typeface="Times New Roman" panose="02020603050405020304" pitchFamily="18" charset="0"/>
              </a:rPr>
              <a:t>3. Matplotlib &amp; Seaborn</a:t>
            </a:r>
            <a:endParaRPr lang="en-IN" sz="24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Used for data visualization to understand class distributions (e.g., number of spam vs. ham messages).</a:t>
            </a:r>
          </a:p>
          <a:p>
            <a:pPr>
              <a:buFont typeface="Arial" panose="020B0604020202020204" pitchFamily="34" charset="0"/>
              <a:buChar char="•"/>
            </a:pPr>
            <a:endParaRPr lang="en-IN" sz="20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Helpful in plotting word frequencies, correlation graphs, or model performance (accuracy/loss curves).</a:t>
            </a:r>
          </a:p>
        </p:txBody>
      </p:sp>
    </p:spTree>
    <p:extLst>
      <p:ext uri="{BB962C8B-B14F-4D97-AF65-F5344CB8AC3E}">
        <p14:creationId xmlns:p14="http://schemas.microsoft.com/office/powerpoint/2010/main" val="1749488026"/>
      </p:ext>
    </p:extLst>
  </p:cSld>
  <p:clrMapOvr>
    <a:masterClrMapping/>
  </p:clrMapOvr>
  <p:transition spd="slow">
    <p:push dir="u"/>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ADDC7B-9D9A-7501-2945-43D91E2BA8E3}"/>
              </a:ext>
            </a:extLst>
          </p:cNvPr>
          <p:cNvSpPr>
            <a:spLocks noGrp="1"/>
          </p:cNvSpPr>
          <p:nvPr>
            <p:ph type="title"/>
          </p:nvPr>
        </p:nvSpPr>
        <p:spPr>
          <a:xfrm>
            <a:off x="1765610" y="504367"/>
            <a:ext cx="8911687" cy="1280890"/>
          </a:xfrm>
        </p:spPr>
        <p:txBody>
          <a:bodyPr>
            <a:normAutofit/>
          </a:bodyPr>
          <a:lstStyle/>
          <a:p>
            <a:r>
              <a:rPr lang="en-US" sz="4000" dirty="0">
                <a:solidFill>
                  <a:schemeClr val="tx1">
                    <a:lumMod val="95000"/>
                    <a:lumOff val="5000"/>
                  </a:schemeClr>
                </a:solidFill>
                <a:latin typeface="Times New Roman" panose="02020603050405020304" pitchFamily="18" charset="0"/>
                <a:ea typeface="Montserrat" charset="0"/>
                <a:cs typeface="Times New Roman" panose="02020603050405020304" pitchFamily="18" charset="0"/>
              </a:rPr>
              <a:t>ADVANTAGES</a:t>
            </a:r>
            <a:br>
              <a:rPr lang="en-US" sz="9600" dirty="0">
                <a:solidFill>
                  <a:schemeClr val="accent3"/>
                </a:solidFill>
                <a:latin typeface="Montserrat" charset="0"/>
                <a:ea typeface="Montserrat" charset="0"/>
                <a:cs typeface="Montserrat" charset="0"/>
              </a:rPr>
            </a:br>
            <a:endParaRPr lang="en-IN" dirty="0"/>
          </a:p>
        </p:txBody>
      </p:sp>
      <p:sp>
        <p:nvSpPr>
          <p:cNvPr id="4" name="TextBox 3">
            <a:extLst>
              <a:ext uri="{FF2B5EF4-FFF2-40B4-BE49-F238E27FC236}">
                <a16:creationId xmlns:a16="http://schemas.microsoft.com/office/drawing/2014/main" id="{16D983B8-56F7-97A8-6C11-FA5E01C62801}"/>
              </a:ext>
            </a:extLst>
          </p:cNvPr>
          <p:cNvSpPr txBox="1"/>
          <p:nvPr/>
        </p:nvSpPr>
        <p:spPr>
          <a:xfrm>
            <a:off x="1965960" y="1887293"/>
            <a:ext cx="9474925" cy="3477875"/>
          </a:xfrm>
          <a:prstGeom prst="rect">
            <a:avLst/>
          </a:prstGeom>
          <a:noFill/>
        </p:spPr>
        <p:txBody>
          <a:bodyPr wrap="square">
            <a:spAutoFit/>
          </a:bodyPr>
          <a:lstStyle/>
          <a:p>
            <a:pPr marL="342900" indent="-342900">
              <a:buFont typeface="Wingdings" panose="05000000000000000000" pitchFamily="2" charset="2"/>
              <a:buChar char="v"/>
            </a:pPr>
            <a:r>
              <a:rPr lang="en-US" sz="2200" b="1" dirty="0">
                <a:latin typeface="Times New Roman" panose="02020603050405020304" pitchFamily="18" charset="0"/>
                <a:cs typeface="Times New Roman" panose="02020603050405020304" pitchFamily="18" charset="0"/>
              </a:rPr>
              <a:t> Data-Driven Decision Making :</a:t>
            </a:r>
            <a:r>
              <a:rPr lang="en-US" sz="2200" dirty="0">
                <a:latin typeface="Times New Roman" panose="02020603050405020304" pitchFamily="18" charset="0"/>
                <a:cs typeface="Times New Roman" panose="02020603050405020304" pitchFamily="18" charset="0"/>
              </a:rPr>
              <a:t>Helps</a:t>
            </a:r>
            <a:r>
              <a:rPr lang="en-US" sz="2200" b="1" dirty="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understand what content types are most successful on YouTube using real-world data. </a:t>
            </a:r>
          </a:p>
          <a:p>
            <a:pPr marL="342900" indent="-342900">
              <a:buFont typeface="Wingdings" panose="05000000000000000000" pitchFamily="2" charset="2"/>
              <a:buChar char="v"/>
            </a:pPr>
            <a:r>
              <a:rPr lang="en-US" sz="2200" b="1" dirty="0">
                <a:latin typeface="Times New Roman" panose="02020603050405020304" pitchFamily="18" charset="0"/>
                <a:cs typeface="Times New Roman" panose="02020603050405020304" pitchFamily="18" charset="0"/>
              </a:rPr>
              <a:t>Visual Insight: </a:t>
            </a:r>
            <a:r>
              <a:rPr lang="en-US" sz="2200" dirty="0">
                <a:latin typeface="Times New Roman" panose="02020603050405020304" pitchFamily="18" charset="0"/>
                <a:cs typeface="Times New Roman" panose="02020603050405020304" pitchFamily="18" charset="0"/>
              </a:rPr>
              <a:t>Use of clear and interactive visualizations makes trends easy to understand and present.</a:t>
            </a:r>
          </a:p>
          <a:p>
            <a:pPr marL="342900" indent="-342900">
              <a:buFont typeface="Wingdings" panose="05000000000000000000" pitchFamily="2" charset="2"/>
              <a:buChar char="v"/>
            </a:pPr>
            <a:r>
              <a:rPr lang="en-US" sz="2200" b="1" dirty="0">
                <a:latin typeface="Times New Roman" panose="02020603050405020304" pitchFamily="18" charset="0"/>
                <a:cs typeface="Times New Roman" panose="02020603050405020304" pitchFamily="18" charset="0"/>
              </a:rPr>
              <a:t>Global Perspective Analyzes :</a:t>
            </a:r>
            <a:r>
              <a:rPr lang="en-US" sz="2200" dirty="0">
                <a:latin typeface="Times New Roman" panose="02020603050405020304" pitchFamily="18" charset="0"/>
                <a:cs typeface="Times New Roman" panose="02020603050405020304" pitchFamily="18" charset="0"/>
              </a:rPr>
              <a:t>Data across multiple countries, offering insights into international content trends.</a:t>
            </a:r>
          </a:p>
          <a:p>
            <a:pPr marL="342900" indent="-342900">
              <a:buFont typeface="Wingdings" panose="05000000000000000000" pitchFamily="2" charset="2"/>
              <a:buChar char="v"/>
            </a:pPr>
            <a:r>
              <a:rPr lang="en-US" sz="2200" b="1" dirty="0">
                <a:latin typeface="Times New Roman" panose="02020603050405020304" pitchFamily="18" charset="0"/>
                <a:cs typeface="Times New Roman" panose="02020603050405020304" pitchFamily="18" charset="0"/>
              </a:rPr>
              <a:t>Skill Enhancement: </a:t>
            </a:r>
            <a:r>
              <a:rPr lang="en-US" sz="2200" dirty="0">
                <a:latin typeface="Times New Roman" panose="02020603050405020304" pitchFamily="18" charset="0"/>
                <a:cs typeface="Times New Roman" panose="02020603050405020304" pitchFamily="18" charset="0"/>
              </a:rPr>
              <a:t>Strengthens data analysis, visualization, and Python programming skills.</a:t>
            </a:r>
          </a:p>
          <a:p>
            <a:pPr marL="342900" indent="-342900">
              <a:buFont typeface="Wingdings" panose="05000000000000000000" pitchFamily="2" charset="2"/>
              <a:buChar char="v"/>
            </a:pPr>
            <a:r>
              <a:rPr lang="en-US" sz="2200" b="1" dirty="0">
                <a:latin typeface="Times New Roman" panose="02020603050405020304" pitchFamily="18" charset="0"/>
                <a:cs typeface="Times New Roman" panose="02020603050405020304" pitchFamily="18" charset="0"/>
              </a:rPr>
              <a:t>Scalable and Reusable Framework :</a:t>
            </a:r>
            <a:r>
              <a:rPr lang="en-US" sz="2200" dirty="0">
                <a:latin typeface="Times New Roman" panose="02020603050405020304" pitchFamily="18" charset="0"/>
                <a:cs typeface="Times New Roman" panose="02020603050405020304" pitchFamily="18" charset="0"/>
              </a:rPr>
              <a:t>The project structure can be adapted for other social media platforms or datasets with minimal changes</a:t>
            </a:r>
            <a:endParaRPr lang="en-IN"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16102633"/>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6F034CC-2571-E3B4-80AE-2EB2234799B3}"/>
              </a:ext>
            </a:extLst>
          </p:cNvPr>
          <p:cNvSpPr txBox="1"/>
          <p:nvPr/>
        </p:nvSpPr>
        <p:spPr>
          <a:xfrm>
            <a:off x="1698172" y="576943"/>
            <a:ext cx="7445829" cy="707886"/>
          </a:xfrm>
          <a:prstGeom prst="rect">
            <a:avLst/>
          </a:prstGeom>
          <a:noFill/>
        </p:spPr>
        <p:txBody>
          <a:bodyPr wrap="square" rtlCol="0">
            <a:spAutoFit/>
          </a:bodyPr>
          <a:lstStyle/>
          <a:p>
            <a:r>
              <a:rPr lang="en-US" sz="4000" dirty="0">
                <a:solidFill>
                  <a:schemeClr val="accent3"/>
                </a:solidFill>
                <a:latin typeface="Times New Roman" panose="02020603050405020304" pitchFamily="18" charset="0"/>
                <a:ea typeface="Montserrat" charset="0"/>
                <a:cs typeface="Times New Roman" panose="02020603050405020304" pitchFamily="18" charset="0"/>
              </a:rPr>
              <a:t>CONCLUSION</a:t>
            </a:r>
          </a:p>
        </p:txBody>
      </p:sp>
      <p:sp>
        <p:nvSpPr>
          <p:cNvPr id="3" name="TextBox 2">
            <a:extLst>
              <a:ext uri="{FF2B5EF4-FFF2-40B4-BE49-F238E27FC236}">
                <a16:creationId xmlns:a16="http://schemas.microsoft.com/office/drawing/2014/main" id="{4D1BC147-35C7-061C-4C72-B82B82D4EFDB}"/>
              </a:ext>
            </a:extLst>
          </p:cNvPr>
          <p:cNvSpPr txBox="1"/>
          <p:nvPr/>
        </p:nvSpPr>
        <p:spPr>
          <a:xfrm>
            <a:off x="1850572" y="1676400"/>
            <a:ext cx="9677399" cy="4191981"/>
          </a:xfrm>
          <a:prstGeom prst="rect">
            <a:avLst/>
          </a:prstGeom>
          <a:noFill/>
        </p:spPr>
        <p:txBody>
          <a:bodyPr wrap="square" rtlCol="0">
            <a:spAutoFit/>
          </a:bodyPr>
          <a:lstStyle/>
          <a:p>
            <a:pPr marL="342900" indent="-342900">
              <a:lnSpc>
                <a:spcPct val="150000"/>
              </a:lnSpc>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Here is the Conclusion for your Top YouTube Channels and Views Analysis </a:t>
            </a:r>
            <a:r>
              <a:rPr lang="en-US" sz="2000" dirty="0" err="1">
                <a:latin typeface="Times New Roman" panose="02020603050405020304" pitchFamily="18" charset="0"/>
                <a:cs typeface="Times New Roman" panose="02020603050405020304" pitchFamily="18" charset="0"/>
              </a:rPr>
              <a:t>project:The</a:t>
            </a:r>
            <a:r>
              <a:rPr lang="en-US" sz="2000" dirty="0">
                <a:latin typeface="Times New Roman" panose="02020603050405020304" pitchFamily="18" charset="0"/>
                <a:cs typeface="Times New Roman" panose="02020603050405020304" pitchFamily="18" charset="0"/>
              </a:rPr>
              <a:t> analysis of top YouTube channels provides meaningful insights into the dynamics of digital content creation and audience engagement. By examining key metrics such as views, subscribers, uploads, categories, and geographic distribution, we can identify what drives success on YouTube .</a:t>
            </a:r>
          </a:p>
          <a:p>
            <a:pPr marL="342900" indent="-342900">
              <a:lnSpc>
                <a:spcPct val="150000"/>
              </a:lnSpc>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 The results show that categories like Music, Gaming, and Entertainment dominate in terms of total views and subscribers. Countries such as India and the United States emerge as major contributors to top content, reflecting regional preferences and global reach. </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53040425"/>
      </p:ext>
    </p:extLst>
  </p:cSld>
  <p:clrMapOvr>
    <a:masterClrMapping/>
  </p:clrMapOvr>
  <p:transition spd="slow">
    <p:wip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F56B168-0E9F-4D92-EE73-29FEAA63FAC6}"/>
              </a:ext>
            </a:extLst>
          </p:cNvPr>
          <p:cNvSpPr txBox="1"/>
          <p:nvPr/>
        </p:nvSpPr>
        <p:spPr>
          <a:xfrm rot="10800000" flipV="1">
            <a:off x="2993573" y="2319908"/>
            <a:ext cx="6770914" cy="1569660"/>
          </a:xfrm>
          <a:prstGeom prst="rect">
            <a:avLst/>
          </a:prstGeom>
          <a:noFill/>
        </p:spPr>
        <p:txBody>
          <a:bodyPr wrap="square" rtlCol="0">
            <a:spAutoFit/>
          </a:bodyPr>
          <a:lstStyle/>
          <a:p>
            <a:r>
              <a:rPr lang="en-IN" sz="9600" dirty="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latin typeface="Times New Roman" panose="02020603050405020304" pitchFamily="18" charset="0"/>
                <a:cs typeface="Times New Roman" panose="02020603050405020304" pitchFamily="18" charset="0"/>
              </a:rPr>
              <a:t>Thank you</a:t>
            </a:r>
          </a:p>
        </p:txBody>
      </p:sp>
    </p:spTree>
    <p:extLst>
      <p:ext uri="{BB962C8B-B14F-4D97-AF65-F5344CB8AC3E}">
        <p14:creationId xmlns:p14="http://schemas.microsoft.com/office/powerpoint/2010/main" val="1942984645"/>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Wisp</Template>
  <TotalTime>463</TotalTime>
  <Words>877</Words>
  <Application>Microsoft Office PowerPoint</Application>
  <PresentationFormat>Widescreen</PresentationFormat>
  <Paragraphs>88</Paragraphs>
  <Slides>20</Slides>
  <Notes>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20</vt:i4>
      </vt:variant>
    </vt:vector>
  </HeadingPairs>
  <TitlesOfParts>
    <vt:vector size="29" baseType="lpstr">
      <vt:lpstr>Arial</vt:lpstr>
      <vt:lpstr>Calibri</vt:lpstr>
      <vt:lpstr>Century Gothic</vt:lpstr>
      <vt:lpstr>Montserrat</vt:lpstr>
      <vt:lpstr>Montserrat Light</vt:lpstr>
      <vt:lpstr>Times New Roman</vt:lpstr>
      <vt:lpstr>Wingdings</vt:lpstr>
      <vt:lpstr>Wingdings 3</vt:lpstr>
      <vt:lpstr>Wisp</vt:lpstr>
      <vt:lpstr>TOP YOUTUBE CHANNELS AND VIEWS ANALYSIS</vt:lpstr>
      <vt:lpstr>CONTENTS </vt:lpstr>
      <vt:lpstr>ABSTRACT</vt:lpstr>
      <vt:lpstr>INTRODUCTION </vt:lpstr>
      <vt:lpstr>SYSTEM REQUIREMENTS </vt:lpstr>
      <vt:lpstr>Hardware Requirements</vt:lpstr>
      <vt:lpstr>ARCHITECTURE </vt:lpstr>
      <vt:lpstr>IMPORTING DATASET </vt:lpstr>
      <vt:lpstr>Data cleaning and analysis</vt:lpstr>
      <vt:lpstr>PowerPoint Presentation</vt:lpstr>
      <vt:lpstr>PowerPoint Presentation</vt:lpstr>
      <vt:lpstr>DATA EXPLORATION: </vt:lpstr>
      <vt:lpstr>Data visualization </vt:lpstr>
      <vt:lpstr>PowerPoint Presentation</vt:lpstr>
      <vt:lpstr>PowerPoint Presentation</vt:lpstr>
      <vt:lpstr>PowerPoint Presentation</vt:lpstr>
      <vt:lpstr>PowerPoint Presentation</vt:lpstr>
      <vt:lpstr>ADVANTAGES </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Munagala Rajeswari</dc:creator>
  <cp:lastModifiedBy>DANDU INDU MAHELA</cp:lastModifiedBy>
  <cp:revision>4</cp:revision>
  <dcterms:created xsi:type="dcterms:W3CDTF">2025-06-29T12:57:02Z</dcterms:created>
  <dcterms:modified xsi:type="dcterms:W3CDTF">2025-07-09T12:17:31Z</dcterms:modified>
</cp:coreProperties>
</file>